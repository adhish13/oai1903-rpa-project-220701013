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9144000"/>
  <p:notesSz cx="6858000" cy="9144000"/>
  <p:embeddedFontLst>
    <p:embeddedFont>
      <p:font typeface="Open Sans ExtraBold"/>
      <p:bold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penSansExtraBold-boldItalic.fntdata"/><Relationship Id="rId30" Type="http://schemas.openxmlformats.org/officeDocument/2006/relationships/font" Target="fonts/OpenSansExtraBold-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18d3cdd765_0_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g318d3cdd765_0_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g318d3cdd765_0_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18d3cdd765_0_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g318d3cdd765_0_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g318d3cdd765_0_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18d3cdd765_0_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g318d3cdd765_0_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g318d3cdd765_0_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18d3cdd765_0_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g318d3cdd765_0_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g318d3cdd765_0_5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44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lvl1pPr indent="-381000" lvl="0" marL="457200" algn="l">
              <a:lnSpc>
                <a:spcPct val="114000"/>
              </a:lnSpc>
              <a:spcBef>
                <a:spcPts val="480"/>
              </a:spcBef>
              <a:spcAft>
                <a:spcPts val="0"/>
              </a:spcAft>
              <a:buClr>
                <a:schemeClr val="dk1"/>
              </a:buClr>
              <a:buSzPts val="2400"/>
              <a:buFont typeface="Noto Sans Symbols"/>
              <a:buChar char="▪"/>
              <a:defRPr sz="2400">
                <a:latin typeface="Calibri"/>
                <a:ea typeface="Calibri"/>
                <a:cs typeface="Calibri"/>
                <a:sym typeface="Calibri"/>
              </a:defRPr>
            </a:lvl1pPr>
            <a:lvl2pPr indent="-355600" lvl="1" marL="914400" algn="l">
              <a:lnSpc>
                <a:spcPct val="114000"/>
              </a:lnSpc>
              <a:spcBef>
                <a:spcPts val="400"/>
              </a:spcBef>
              <a:spcAft>
                <a:spcPts val="0"/>
              </a:spcAft>
              <a:buClr>
                <a:schemeClr val="dk1"/>
              </a:buClr>
              <a:buSzPts val="2000"/>
              <a:buFont typeface="Arial"/>
              <a:buChar char="•"/>
              <a:defRPr sz="2000">
                <a:latin typeface="Calibri"/>
                <a:ea typeface="Calibri"/>
                <a:cs typeface="Calibri"/>
                <a:sym typeface="Calibri"/>
              </a:defRPr>
            </a:lvl2pPr>
            <a:lvl3pPr indent="-342900" lvl="2" marL="1371600" algn="l">
              <a:lnSpc>
                <a:spcPct val="114000"/>
              </a:lnSpc>
              <a:spcBef>
                <a:spcPts val="360"/>
              </a:spcBef>
              <a:spcAft>
                <a:spcPts val="0"/>
              </a:spcAft>
              <a:buClr>
                <a:schemeClr val="dk1"/>
              </a:buClr>
              <a:buSzPts val="1800"/>
              <a:buChar char="•"/>
              <a:defRPr sz="1800">
                <a:latin typeface="Calibri"/>
                <a:ea typeface="Calibri"/>
                <a:cs typeface="Calibri"/>
                <a:sym typeface="Calibri"/>
              </a:defRPr>
            </a:lvl3pPr>
            <a:lvl4pPr indent="-330200" lvl="3" marL="1828800" algn="l">
              <a:lnSpc>
                <a:spcPct val="114000"/>
              </a:lnSpc>
              <a:spcBef>
                <a:spcPts val="320"/>
              </a:spcBef>
              <a:spcAft>
                <a:spcPts val="0"/>
              </a:spcAft>
              <a:buClr>
                <a:schemeClr val="dk1"/>
              </a:buClr>
              <a:buSzPts val="1600"/>
              <a:buChar char="–"/>
              <a:defRPr sz="1600">
                <a:latin typeface="Calibri"/>
                <a:ea typeface="Calibri"/>
                <a:cs typeface="Calibri"/>
                <a:sym typeface="Calibri"/>
              </a:defRPr>
            </a:lvl4pPr>
            <a:lvl5pPr indent="-330200" lvl="4" marL="2286000" algn="l">
              <a:lnSpc>
                <a:spcPct val="114000"/>
              </a:lnSpc>
              <a:spcBef>
                <a:spcPts val="320"/>
              </a:spcBef>
              <a:spcAft>
                <a:spcPts val="0"/>
              </a:spcAft>
              <a:buClr>
                <a:schemeClr val="dk1"/>
              </a:buClr>
              <a:buSzPts val="1600"/>
              <a:buChar char="»"/>
              <a:defRPr sz="1600">
                <a:latin typeface="Calibri"/>
                <a:ea typeface="Calibri"/>
                <a:cs typeface="Calibri"/>
                <a:sym typeface="Calibri"/>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 name="Google Shape;22;p3"/>
          <p:cNvSpPr/>
          <p:nvPr/>
        </p:nvSpPr>
        <p:spPr>
          <a:xfrm>
            <a:off x="0" y="6477000"/>
            <a:ext cx="4572000" cy="381000"/>
          </a:xfrm>
          <a:prstGeom prst="rect">
            <a:avLst/>
          </a:prstGeom>
          <a:solidFill>
            <a:srgbClr val="34495E"/>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FFFFFF"/>
                </a:solidFill>
                <a:latin typeface="Calibri"/>
                <a:ea typeface="Calibri"/>
                <a:cs typeface="Calibri"/>
                <a:sym typeface="Calibri"/>
              </a:rPr>
              <a:t>Department of Computer</a:t>
            </a:r>
            <a:r>
              <a:rPr lang="en-US" sz="1600">
                <a:solidFill>
                  <a:srgbClr val="FFFFFF"/>
                </a:solidFill>
                <a:latin typeface="Calibri"/>
                <a:ea typeface="Calibri"/>
                <a:cs typeface="Calibri"/>
                <a:sym typeface="Calibri"/>
              </a:rPr>
              <a:t> Science and Engineering</a:t>
            </a:r>
            <a:endParaRPr sz="1600">
              <a:solidFill>
                <a:srgbClr val="FFFFFF"/>
              </a:solidFill>
              <a:latin typeface="Calibri"/>
              <a:ea typeface="Calibri"/>
              <a:cs typeface="Calibri"/>
              <a:sym typeface="Calibri"/>
            </a:endParaRPr>
          </a:p>
        </p:txBody>
      </p:sp>
      <p:cxnSp>
        <p:nvCxnSpPr>
          <p:cNvPr id="23" name="Google Shape;23;p3"/>
          <p:cNvCxnSpPr/>
          <p:nvPr/>
        </p:nvCxnSpPr>
        <p:spPr>
          <a:xfrm>
            <a:off x="190500" y="914400"/>
            <a:ext cx="8763000" cy="0"/>
          </a:xfrm>
          <a:prstGeom prst="straightConnector1">
            <a:avLst/>
          </a:prstGeom>
          <a:noFill/>
          <a:ln cap="flat" cmpd="sng" w="9525">
            <a:solidFill>
              <a:srgbClr val="D8D8D8"/>
            </a:solidFill>
            <a:prstDash val="solid"/>
            <a:round/>
            <a:headEnd len="sm" w="sm" type="none"/>
            <a:tailEnd len="sm" w="sm" type="none"/>
          </a:ln>
        </p:spPr>
      </p:cxnSp>
      <p:sp>
        <p:nvSpPr>
          <p:cNvPr id="24" name="Google Shape;24;p3"/>
          <p:cNvSpPr/>
          <p:nvPr/>
        </p:nvSpPr>
        <p:spPr>
          <a:xfrm>
            <a:off x="4572000" y="6477490"/>
            <a:ext cx="4572000" cy="381000"/>
          </a:xfrm>
          <a:prstGeom prst="rect">
            <a:avLst/>
          </a:prstGeom>
          <a:solidFill>
            <a:srgbClr val="34495E"/>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FFFFFF"/>
                </a:solidFill>
                <a:latin typeface="Calibri"/>
                <a:ea typeface="Calibri"/>
                <a:cs typeface="Calibri"/>
                <a:sym typeface="Calibri"/>
              </a:rPr>
              <a:t>Rajalakshmi Engineering College 		</a:t>
            </a:r>
            <a:fld id="{00000000-1234-1234-1234-123412341234}" type="slidenum">
              <a:rPr lang="en-US" sz="1600">
                <a:solidFill>
                  <a:srgbClr val="FFFFFF"/>
                </a:solidFill>
                <a:latin typeface="Calibri"/>
                <a:ea typeface="Calibri"/>
                <a:cs typeface="Calibri"/>
                <a:sym typeface="Calibri"/>
              </a:rPr>
              <a:t>‹#›</a:t>
            </a:fld>
            <a:endParaRPr sz="1600">
              <a:solidFill>
                <a:srgbClr val="FFFFFF"/>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Open Sans ExtraBold"/>
              <a:buNone/>
              <a:defRPr>
                <a:latin typeface="Open Sans ExtraBold"/>
                <a:ea typeface="Open Sans ExtraBold"/>
                <a:cs typeface="Open Sans ExtraBold"/>
                <a:sym typeface="Open Sans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3"/>
          <p:cNvPicPr preferRelativeResize="0"/>
          <p:nvPr/>
        </p:nvPicPr>
        <p:blipFill rotWithShape="1">
          <a:blip r:embed="rId3">
            <a:alphaModFix/>
          </a:blip>
          <a:srcRect b="-30897" l="-776" r="776" t="63278"/>
          <a:stretch/>
        </p:blipFill>
        <p:spPr>
          <a:xfrm>
            <a:off x="-72010" y="-2532"/>
            <a:ext cx="9216010" cy="3231811"/>
          </a:xfrm>
          <a:prstGeom prst="rect">
            <a:avLst/>
          </a:prstGeom>
          <a:noFill/>
          <a:ln>
            <a:noFill/>
          </a:ln>
        </p:spPr>
      </p:pic>
      <p:grpSp>
        <p:nvGrpSpPr>
          <p:cNvPr id="89" name="Google Shape;89;p13"/>
          <p:cNvGrpSpPr/>
          <p:nvPr/>
        </p:nvGrpSpPr>
        <p:grpSpPr>
          <a:xfrm>
            <a:off x="-14748" y="986564"/>
            <a:ext cx="9158748" cy="5149141"/>
            <a:chOff x="-14748" y="986564"/>
            <a:chExt cx="9158748" cy="5149141"/>
          </a:xfrm>
        </p:grpSpPr>
        <p:sp>
          <p:nvSpPr>
            <p:cNvPr id="90" name="Google Shape;90;p13"/>
            <p:cNvSpPr txBox="1"/>
            <p:nvPr/>
          </p:nvSpPr>
          <p:spPr>
            <a:xfrm>
              <a:off x="177781" y="4812105"/>
              <a:ext cx="4322100" cy="1323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chemeClr val="dk1"/>
                  </a:solidFill>
                  <a:latin typeface="Calibri"/>
                  <a:ea typeface="Calibri"/>
                  <a:cs typeface="Calibri"/>
                  <a:sym typeface="Calibri"/>
                </a:rPr>
                <a:t>Your Register No</a:t>
              </a:r>
              <a:r>
                <a:rPr b="1" lang="en-US" sz="2000">
                  <a:solidFill>
                    <a:schemeClr val="dk1"/>
                  </a:solidFill>
                  <a:latin typeface="Calibri"/>
                  <a:ea typeface="Calibri"/>
                  <a:cs typeface="Calibri"/>
                  <a:sym typeface="Calibri"/>
                </a:rPr>
                <a:t>:</a:t>
              </a:r>
              <a:r>
                <a:rPr b="1" i="0" lang="en-US" sz="2000" u="none" cap="none" strike="noStrike">
                  <a:solidFill>
                    <a:schemeClr val="dk1"/>
                  </a:solidFill>
                  <a:latin typeface="Calibri"/>
                  <a:ea typeface="Calibri"/>
                  <a:cs typeface="Calibri"/>
                  <a:sym typeface="Calibri"/>
                </a:rPr>
                <a:t> 220701013</a:t>
              </a:r>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Name: Adhish.K</a:t>
              </a:r>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Guide Name: J.Jinu sophia</a:t>
              </a:r>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Designation and Department: CSE-A</a:t>
              </a:r>
              <a:endParaRPr b="1" sz="2000">
                <a:solidFill>
                  <a:schemeClr val="dk1"/>
                </a:solidFill>
                <a:latin typeface="Calibri"/>
                <a:ea typeface="Calibri"/>
                <a:cs typeface="Calibri"/>
                <a:sym typeface="Calibri"/>
              </a:endParaRPr>
            </a:p>
          </p:txBody>
        </p:sp>
        <p:grpSp>
          <p:nvGrpSpPr>
            <p:cNvPr id="91" name="Google Shape;91;p13"/>
            <p:cNvGrpSpPr/>
            <p:nvPr/>
          </p:nvGrpSpPr>
          <p:grpSpPr>
            <a:xfrm>
              <a:off x="-14748" y="986564"/>
              <a:ext cx="9158748" cy="3700339"/>
              <a:chOff x="-14748" y="986564"/>
              <a:chExt cx="9158748" cy="3700339"/>
            </a:xfrm>
          </p:grpSpPr>
          <p:sp>
            <p:nvSpPr>
              <p:cNvPr id="92" name="Google Shape;92;p13"/>
              <p:cNvSpPr/>
              <p:nvPr/>
            </p:nvSpPr>
            <p:spPr>
              <a:xfrm>
                <a:off x="5003203" y="1761199"/>
                <a:ext cx="4140797" cy="2622445"/>
              </a:xfrm>
              <a:custGeom>
                <a:rect b="b" l="l" r="r" t="t"/>
                <a:pathLst>
                  <a:path extrusionOk="0" h="2622445" w="4140797">
                    <a:moveTo>
                      <a:pt x="1" y="0"/>
                    </a:moveTo>
                    <a:lnTo>
                      <a:pt x="4140797" y="0"/>
                    </a:lnTo>
                    <a:lnTo>
                      <a:pt x="4140797" y="2622445"/>
                    </a:lnTo>
                    <a:lnTo>
                      <a:pt x="0" y="2622445"/>
                    </a:lnTo>
                    <a:lnTo>
                      <a:pt x="1311223" y="1311222"/>
                    </a:lnTo>
                    <a:lnTo>
                      <a:pt x="1" y="0"/>
                    </a:lnTo>
                    <a:close/>
                  </a:path>
                </a:pathLst>
              </a:custGeom>
              <a:solidFill>
                <a:srgbClr val="00AAA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3" name="Google Shape;93;p13"/>
              <p:cNvSpPr/>
              <p:nvPr/>
            </p:nvSpPr>
            <p:spPr>
              <a:xfrm>
                <a:off x="0" y="1529371"/>
                <a:ext cx="5743977" cy="3086100"/>
              </a:xfrm>
              <a:prstGeom prst="homePlate">
                <a:avLst>
                  <a:gd fmla="val 50000" name="adj"/>
                </a:avLst>
              </a:prstGeom>
              <a:solidFill>
                <a:srgbClr val="59595B"/>
              </a:solidFill>
              <a:ln cap="flat" cmpd="sng" w="25400">
                <a:solidFill>
                  <a:srgbClr val="59595B"/>
                </a:solidFill>
                <a:prstDash val="solid"/>
                <a:round/>
                <a:headEnd len="sm" w="sm" type="none"/>
                <a:tailEnd len="sm" w="sm" type="none"/>
              </a:ln>
              <a:effectLst>
                <a:outerShdw blurRad="50800" rotWithShape="0" algn="l" dist="381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94" name="Google Shape;94;p13"/>
              <p:cNvGrpSpPr/>
              <p:nvPr/>
            </p:nvGrpSpPr>
            <p:grpSpPr>
              <a:xfrm>
                <a:off x="-14748" y="986564"/>
                <a:ext cx="4014973" cy="1075928"/>
                <a:chOff x="-19391" y="1011603"/>
                <a:chExt cx="5278947" cy="1075928"/>
              </a:xfrm>
            </p:grpSpPr>
            <p:sp>
              <p:nvSpPr>
                <p:cNvPr id="95" name="Google Shape;95;p13"/>
                <p:cNvSpPr/>
                <p:nvPr/>
              </p:nvSpPr>
              <p:spPr>
                <a:xfrm>
                  <a:off x="-19391" y="1011603"/>
                  <a:ext cx="5278947" cy="1075928"/>
                </a:xfrm>
                <a:prstGeom prst="homePlate">
                  <a:avLst>
                    <a:gd fmla="val 50000" name="adj"/>
                  </a:avLst>
                </a:prstGeom>
                <a:solidFill>
                  <a:srgbClr val="00AAAD"/>
                </a:solidFill>
                <a:ln>
                  <a:noFill/>
                </a:ln>
                <a:effectLst>
                  <a:outerShdw blurRad="50800" rotWithShape="0" algn="l" dist="381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 name="Google Shape;96;p13"/>
                <p:cNvSpPr txBox="1"/>
                <p:nvPr/>
              </p:nvSpPr>
              <p:spPr>
                <a:xfrm>
                  <a:off x="237041" y="1195624"/>
                  <a:ext cx="4181886" cy="707886"/>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2000">
                      <a:solidFill>
                        <a:schemeClr val="lt1"/>
                      </a:solidFill>
                      <a:latin typeface="Calibri"/>
                      <a:ea typeface="Calibri"/>
                      <a:cs typeface="Calibri"/>
                      <a:sym typeface="Calibri"/>
                    </a:rPr>
                    <a:t>Introduction to </a:t>
                  </a:r>
                  <a:endParaRPr/>
                </a:p>
                <a:p>
                  <a:pPr indent="0" lvl="0" marL="0" marR="0" rtl="0" algn="ctr">
                    <a:spcBef>
                      <a:spcPts val="0"/>
                    </a:spcBef>
                    <a:spcAft>
                      <a:spcPts val="0"/>
                    </a:spcAft>
                    <a:buNone/>
                  </a:pPr>
                  <a:r>
                    <a:rPr b="1" lang="en-US" sz="2000">
                      <a:solidFill>
                        <a:schemeClr val="lt1"/>
                      </a:solidFill>
                      <a:latin typeface="Calibri"/>
                      <a:ea typeface="Calibri"/>
                      <a:cs typeface="Calibri"/>
                      <a:sym typeface="Calibri"/>
                    </a:rPr>
                    <a:t>Robotic Process Automation </a:t>
                  </a:r>
                  <a:endParaRPr b="1" sz="2000">
                    <a:solidFill>
                      <a:schemeClr val="lt1"/>
                    </a:solidFill>
                    <a:latin typeface="Calibri"/>
                    <a:ea typeface="Calibri"/>
                    <a:cs typeface="Calibri"/>
                    <a:sym typeface="Calibri"/>
                  </a:endParaRPr>
                </a:p>
              </p:txBody>
            </p:sp>
          </p:grpSp>
          <p:sp>
            <p:nvSpPr>
              <p:cNvPr id="97" name="Google Shape;97;p13"/>
              <p:cNvSpPr txBox="1"/>
              <p:nvPr/>
            </p:nvSpPr>
            <p:spPr>
              <a:xfrm>
                <a:off x="177782" y="2100903"/>
                <a:ext cx="4188300" cy="2586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5400">
                    <a:solidFill>
                      <a:schemeClr val="lt1"/>
                    </a:solidFill>
                    <a:latin typeface="Calibri"/>
                    <a:ea typeface="Calibri"/>
                    <a:cs typeface="Calibri"/>
                    <a:sym typeface="Calibri"/>
                  </a:rPr>
                  <a:t>Subscription</a:t>
                </a:r>
                <a:endParaRPr b="1" sz="5400">
                  <a:solidFill>
                    <a:schemeClr val="lt1"/>
                  </a:solidFill>
                  <a:latin typeface="Calibri"/>
                  <a:ea typeface="Calibri"/>
                  <a:cs typeface="Calibri"/>
                  <a:sym typeface="Calibri"/>
                </a:endParaRPr>
              </a:p>
              <a:p>
                <a:pPr indent="0" lvl="0" marL="0" marR="0" rtl="0" algn="l">
                  <a:spcBef>
                    <a:spcPts val="0"/>
                  </a:spcBef>
                  <a:spcAft>
                    <a:spcPts val="0"/>
                  </a:spcAft>
                  <a:buNone/>
                </a:pPr>
                <a:r>
                  <a:rPr b="1" lang="en-US" sz="5400">
                    <a:solidFill>
                      <a:schemeClr val="lt1"/>
                    </a:solidFill>
                    <a:latin typeface="Calibri"/>
                    <a:ea typeface="Calibri"/>
                    <a:cs typeface="Calibri"/>
                    <a:sym typeface="Calibri"/>
                  </a:rPr>
                  <a:t>Remainder</a:t>
                </a:r>
                <a:endParaRPr b="1" sz="5400">
                  <a:solidFill>
                    <a:schemeClr val="lt1"/>
                  </a:solidFill>
                  <a:latin typeface="Calibri"/>
                  <a:ea typeface="Calibri"/>
                  <a:cs typeface="Calibri"/>
                  <a:sym typeface="Calibri"/>
                </a:endParaRPr>
              </a:p>
              <a:p>
                <a:pPr indent="0" lvl="0" marL="0" marR="0" rtl="0" algn="l">
                  <a:spcBef>
                    <a:spcPts val="0"/>
                  </a:spcBef>
                  <a:spcAft>
                    <a:spcPts val="0"/>
                  </a:spcAft>
                  <a:buNone/>
                </a:pPr>
                <a:r>
                  <a:rPr b="1" lang="en-US" sz="5400">
                    <a:solidFill>
                      <a:schemeClr val="lt1"/>
                    </a:solidFill>
                    <a:latin typeface="Calibri"/>
                    <a:ea typeface="Calibri"/>
                    <a:cs typeface="Calibri"/>
                    <a:sym typeface="Calibri"/>
                  </a:rPr>
                  <a:t>Bot</a:t>
                </a:r>
                <a:endParaRPr b="1" sz="5400">
                  <a:solidFill>
                    <a:schemeClr val="lt1"/>
                  </a:solidFill>
                  <a:latin typeface="Calibri"/>
                  <a:ea typeface="Calibri"/>
                  <a:cs typeface="Calibri"/>
                  <a:sym typeface="Calibri"/>
                </a:endParaRPr>
              </a:p>
            </p:txBody>
          </p:sp>
          <p:sp>
            <p:nvSpPr>
              <p:cNvPr id="98" name="Google Shape;98;p13"/>
              <p:cNvSpPr/>
              <p:nvPr/>
            </p:nvSpPr>
            <p:spPr>
              <a:xfrm>
                <a:off x="4652237" y="1529372"/>
                <a:ext cx="1672363" cy="3086099"/>
              </a:xfrm>
              <a:custGeom>
                <a:rect b="b" l="l" r="r" t="t"/>
                <a:pathLst>
                  <a:path extrusionOk="0" h="3086099" w="1672363">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rotWithShape="0" algn="l" dist="381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pic>
        <p:nvPicPr>
          <p:cNvPr id="99" name="Google Shape;99;p13"/>
          <p:cNvPicPr preferRelativeResize="0"/>
          <p:nvPr/>
        </p:nvPicPr>
        <p:blipFill rotWithShape="1">
          <a:blip r:embed="rId4">
            <a:alphaModFix/>
          </a:blip>
          <a:srcRect b="0" l="0" r="0" t="0"/>
          <a:stretch/>
        </p:blipFill>
        <p:spPr>
          <a:xfrm>
            <a:off x="7128284" y="4441459"/>
            <a:ext cx="1813542" cy="154151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4"/>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Abstract</a:t>
            </a:r>
            <a:endParaRPr>
              <a:latin typeface="Calibri"/>
              <a:ea typeface="Calibri"/>
              <a:cs typeface="Calibri"/>
              <a:sym typeface="Calibri"/>
            </a:endParaRPr>
          </a:p>
        </p:txBody>
      </p:sp>
      <p:sp>
        <p:nvSpPr>
          <p:cNvPr id="106" name="Google Shape;106;p14"/>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342900" lvl="0" marL="342900" rtl="0" algn="l">
              <a:lnSpc>
                <a:spcPct val="105000"/>
              </a:lnSpc>
              <a:spcBef>
                <a:spcPts val="1200"/>
              </a:spcBef>
              <a:spcAft>
                <a:spcPts val="0"/>
              </a:spcAft>
              <a:buSzPts val="2400"/>
              <a:buChar char="▪"/>
            </a:pPr>
            <a:r>
              <a:rPr lang="en-US"/>
              <a:t>The Subscription Reminder Bot developed using UiPath Studio automates the process of managing subscription renewals, ensuring users never miss important dates. The bot interacts with various data sources,  spreadsheets to track subscription details, including r</a:t>
            </a:r>
            <a:r>
              <a:rPr lang="en-US"/>
              <a:t>enewal dates</a:t>
            </a:r>
            <a:r>
              <a:rPr lang="en-US"/>
              <a:t> and payment statuses. It utilizes UiPath's scheduling, data extraction, and notification features to send timely reminders to users via email or other channels. The automation streamlines the tracking of multiple subscriptions, reducing human error and enhancing efficiency. With its customizable workflow, the bot can be tailored to suit individual or business needs, improving subscription management and ensuring timely renewals.</a:t>
            </a:r>
            <a:endParaRPr/>
          </a:p>
          <a:p>
            <a:pPr indent="0" lvl="0" marL="342900" rtl="0" algn="l">
              <a:lnSpc>
                <a:spcPct val="104000"/>
              </a:lnSpc>
              <a:spcBef>
                <a:spcPts val="12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5"/>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Need for the Proposed System</a:t>
            </a:r>
            <a:endParaRPr>
              <a:latin typeface="Calibri"/>
              <a:ea typeface="Calibri"/>
              <a:cs typeface="Calibri"/>
              <a:sym typeface="Calibri"/>
            </a:endParaRPr>
          </a:p>
        </p:txBody>
      </p:sp>
      <p:sp>
        <p:nvSpPr>
          <p:cNvPr id="113" name="Google Shape;113;p15"/>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Autofit/>
          </a:bodyPr>
          <a:lstStyle/>
          <a:p>
            <a:pPr indent="-323850" lvl="0" marL="342900" rtl="0" algn="l">
              <a:spcBef>
                <a:spcPts val="0"/>
              </a:spcBef>
              <a:spcAft>
                <a:spcPts val="0"/>
              </a:spcAft>
              <a:buSzPts val="2100"/>
              <a:buChar char="▪"/>
            </a:pPr>
            <a:r>
              <a:rPr b="1" lang="en-US" sz="2100">
                <a:latin typeface="Arial"/>
                <a:ea typeface="Arial"/>
                <a:cs typeface="Arial"/>
                <a:sym typeface="Arial"/>
              </a:rPr>
              <a:t>Time Efficiency</a:t>
            </a:r>
            <a:r>
              <a:rPr lang="en-US" sz="2100">
                <a:latin typeface="Arial"/>
                <a:ea typeface="Arial"/>
                <a:cs typeface="Arial"/>
                <a:sym typeface="Arial"/>
              </a:rPr>
              <a:t>: Automates the process of tracking multiple subscription renewal dates, saving users time compared to manual monitoring.</a:t>
            </a:r>
            <a:endParaRPr sz="2100">
              <a:latin typeface="Arial"/>
              <a:ea typeface="Arial"/>
              <a:cs typeface="Arial"/>
              <a:sym typeface="Arial"/>
            </a:endParaRPr>
          </a:p>
          <a:p>
            <a:pPr indent="-323850" lvl="0" marL="342900" rtl="0" algn="l">
              <a:spcBef>
                <a:spcPts val="0"/>
              </a:spcBef>
              <a:spcAft>
                <a:spcPts val="0"/>
              </a:spcAft>
              <a:buSzPts val="2100"/>
              <a:buChar char="▪"/>
            </a:pPr>
            <a:r>
              <a:rPr b="1" lang="en-US" sz="2100">
                <a:latin typeface="Arial"/>
                <a:ea typeface="Arial"/>
                <a:cs typeface="Arial"/>
                <a:sym typeface="Arial"/>
              </a:rPr>
              <a:t>Error Reduction</a:t>
            </a:r>
            <a:r>
              <a:rPr lang="en-US" sz="2100">
                <a:latin typeface="Arial"/>
                <a:ea typeface="Arial"/>
                <a:cs typeface="Arial"/>
                <a:sym typeface="Arial"/>
              </a:rPr>
              <a:t>: Minimizes human errors in tracking subscription renewals, ensuring no deadlines are missed.</a:t>
            </a:r>
            <a:endParaRPr sz="2100">
              <a:latin typeface="Arial"/>
              <a:ea typeface="Arial"/>
              <a:cs typeface="Arial"/>
              <a:sym typeface="Arial"/>
            </a:endParaRPr>
          </a:p>
          <a:p>
            <a:pPr indent="-323850" lvl="0" marL="342900" rtl="0" algn="l">
              <a:spcBef>
                <a:spcPts val="0"/>
              </a:spcBef>
              <a:spcAft>
                <a:spcPts val="0"/>
              </a:spcAft>
              <a:buSzPts val="2100"/>
              <a:buChar char="▪"/>
            </a:pPr>
            <a:r>
              <a:rPr b="1" lang="en-US" sz="2100">
                <a:latin typeface="Arial"/>
                <a:ea typeface="Arial"/>
                <a:cs typeface="Arial"/>
                <a:sym typeface="Arial"/>
              </a:rPr>
              <a:t>Cost Savings</a:t>
            </a:r>
            <a:r>
              <a:rPr lang="en-US" sz="2100">
                <a:latin typeface="Arial"/>
                <a:ea typeface="Arial"/>
                <a:cs typeface="Arial"/>
                <a:sym typeface="Arial"/>
              </a:rPr>
              <a:t>: Prevents late fees and service disruptions by sending timely reminders for renewal, helping users avoid unnecessary charges.</a:t>
            </a:r>
            <a:endParaRPr sz="2100">
              <a:latin typeface="Arial"/>
              <a:ea typeface="Arial"/>
              <a:cs typeface="Arial"/>
              <a:sym typeface="Arial"/>
            </a:endParaRPr>
          </a:p>
          <a:p>
            <a:pPr indent="-323850" lvl="0" marL="342900" rtl="0" algn="l">
              <a:spcBef>
                <a:spcPts val="0"/>
              </a:spcBef>
              <a:spcAft>
                <a:spcPts val="0"/>
              </a:spcAft>
              <a:buSzPts val="2100"/>
              <a:buChar char="▪"/>
            </a:pPr>
            <a:r>
              <a:rPr b="1" lang="en-US" sz="2100">
                <a:latin typeface="Arial"/>
                <a:ea typeface="Arial"/>
                <a:cs typeface="Arial"/>
                <a:sym typeface="Arial"/>
              </a:rPr>
              <a:t>Scalability</a:t>
            </a:r>
            <a:r>
              <a:rPr lang="en-US" sz="2100">
                <a:latin typeface="Arial"/>
                <a:ea typeface="Arial"/>
                <a:cs typeface="Arial"/>
                <a:sym typeface="Arial"/>
              </a:rPr>
              <a:t>: Easily manages an increasing number of subscriptions, making it suitable for both individuals and businesses with diverse needs.</a:t>
            </a:r>
            <a:endParaRPr sz="2100">
              <a:latin typeface="Arial"/>
              <a:ea typeface="Arial"/>
              <a:cs typeface="Arial"/>
              <a:sym typeface="Arial"/>
            </a:endParaRPr>
          </a:p>
          <a:p>
            <a:pPr indent="-323850" lvl="0" marL="342900" rtl="0" algn="l">
              <a:spcBef>
                <a:spcPts val="0"/>
              </a:spcBef>
              <a:spcAft>
                <a:spcPts val="0"/>
              </a:spcAft>
              <a:buSzPts val="2100"/>
              <a:buChar char="▪"/>
            </a:pPr>
            <a:r>
              <a:rPr b="1" lang="en-US" sz="2100">
                <a:latin typeface="Arial"/>
                <a:ea typeface="Arial"/>
                <a:cs typeface="Arial"/>
                <a:sym typeface="Arial"/>
              </a:rPr>
              <a:t>Improved Convenience</a:t>
            </a:r>
            <a:r>
              <a:rPr lang="en-US" sz="2100">
                <a:latin typeface="Arial"/>
                <a:ea typeface="Arial"/>
                <a:cs typeface="Arial"/>
                <a:sym typeface="Arial"/>
              </a:rPr>
              <a:t>: Enhances user experience by providing automated, reliable notifications, ensuring seamless subscription management.</a:t>
            </a:r>
            <a:endParaRPr sz="2100">
              <a:latin typeface="Arial"/>
              <a:ea typeface="Arial"/>
              <a:cs typeface="Arial"/>
              <a:sym typeface="Arial"/>
            </a:endParaRPr>
          </a:p>
          <a:p>
            <a:pPr indent="0" lvl="0" marL="342900" rtl="0" algn="l">
              <a:lnSpc>
                <a:spcPct val="114000"/>
              </a:lnSpc>
              <a:spcBef>
                <a:spcPts val="0"/>
              </a:spcBef>
              <a:spcAft>
                <a:spcPts val="0"/>
              </a:spcAft>
              <a:buNone/>
            </a:pPr>
            <a:r>
              <a:t/>
            </a:r>
            <a:endParaRPr sz="2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6"/>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Advantages of the Proposed System</a:t>
            </a:r>
            <a:endParaRPr>
              <a:latin typeface="Calibri"/>
              <a:ea typeface="Calibri"/>
              <a:cs typeface="Calibri"/>
              <a:sym typeface="Calibri"/>
            </a:endParaRPr>
          </a:p>
        </p:txBody>
      </p:sp>
      <p:sp>
        <p:nvSpPr>
          <p:cNvPr id="120" name="Google Shape;120;p16"/>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342900" rtl="0" algn="l">
              <a:spcBef>
                <a:spcPts val="0"/>
              </a:spcBef>
              <a:spcAft>
                <a:spcPts val="0"/>
              </a:spcAft>
              <a:buNone/>
            </a:pPr>
            <a:r>
              <a:rPr b="1" lang="en-US" sz="2000">
                <a:latin typeface="Arial"/>
                <a:ea typeface="Arial"/>
                <a:cs typeface="Arial"/>
                <a:sym typeface="Arial"/>
              </a:rPr>
              <a:t>1. </a:t>
            </a:r>
            <a:r>
              <a:rPr b="1" lang="en-US" sz="2000">
                <a:latin typeface="Arial"/>
                <a:ea typeface="Arial"/>
                <a:cs typeface="Arial"/>
                <a:sym typeface="Arial"/>
              </a:rPr>
              <a:t>Automation of Tasks</a:t>
            </a:r>
            <a:r>
              <a:rPr lang="en-US" sz="2000">
                <a:latin typeface="Arial"/>
                <a:ea typeface="Arial"/>
                <a:cs typeface="Arial"/>
                <a:sym typeface="Arial"/>
              </a:rPr>
              <a:t>: Reduces the manual effort involved in tracking subscription renewals, freeing up time for other important tasks.</a:t>
            </a:r>
            <a:endParaRPr sz="2000">
              <a:latin typeface="Arial"/>
              <a:ea typeface="Arial"/>
              <a:cs typeface="Arial"/>
              <a:sym typeface="Arial"/>
            </a:endParaRPr>
          </a:p>
          <a:p>
            <a:pPr indent="0" lvl="0" marL="342900" rtl="0" algn="l">
              <a:spcBef>
                <a:spcPts val="0"/>
              </a:spcBef>
              <a:spcAft>
                <a:spcPts val="0"/>
              </a:spcAft>
              <a:buClr>
                <a:schemeClr val="dk1"/>
              </a:buClr>
              <a:buSzPts val="1100"/>
              <a:buFont typeface="Arial"/>
              <a:buNone/>
            </a:pPr>
            <a:r>
              <a:rPr b="1" lang="en-US" sz="2000">
                <a:latin typeface="Arial"/>
                <a:ea typeface="Arial"/>
                <a:cs typeface="Arial"/>
                <a:sym typeface="Arial"/>
              </a:rPr>
              <a:t>2.Consistency and Reliability</a:t>
            </a:r>
            <a:r>
              <a:rPr lang="en-US" sz="2000">
                <a:latin typeface="Arial"/>
                <a:ea typeface="Arial"/>
                <a:cs typeface="Arial"/>
                <a:sym typeface="Arial"/>
              </a:rPr>
              <a:t>: Ensures timely and accurate reminders, preventing missed renewals and avoiding service disruptions or penalties.</a:t>
            </a:r>
            <a:endParaRPr sz="2000">
              <a:latin typeface="Arial"/>
              <a:ea typeface="Arial"/>
              <a:cs typeface="Arial"/>
              <a:sym typeface="Arial"/>
            </a:endParaRPr>
          </a:p>
          <a:p>
            <a:pPr indent="0" lvl="0" marL="342900" rtl="0" algn="l">
              <a:spcBef>
                <a:spcPts val="0"/>
              </a:spcBef>
              <a:spcAft>
                <a:spcPts val="0"/>
              </a:spcAft>
              <a:buClr>
                <a:schemeClr val="dk1"/>
              </a:buClr>
              <a:buSzPts val="1100"/>
              <a:buFont typeface="Arial"/>
              <a:buNone/>
            </a:pPr>
            <a:r>
              <a:rPr b="1" lang="en-US" sz="2000">
                <a:latin typeface="Arial"/>
                <a:ea typeface="Arial"/>
                <a:cs typeface="Arial"/>
                <a:sym typeface="Arial"/>
              </a:rPr>
              <a:t>3.Cost Management</a:t>
            </a:r>
            <a:r>
              <a:rPr lang="en-US" sz="2000">
                <a:latin typeface="Arial"/>
                <a:ea typeface="Arial"/>
                <a:cs typeface="Arial"/>
                <a:sym typeface="Arial"/>
              </a:rPr>
              <a:t>: Helps users avoid unnecessary charges and late fees by ensuring subscriptions are renewed on time, leading to better financial management.</a:t>
            </a:r>
            <a:endParaRPr sz="2000">
              <a:latin typeface="Arial"/>
              <a:ea typeface="Arial"/>
              <a:cs typeface="Arial"/>
              <a:sym typeface="Arial"/>
            </a:endParaRPr>
          </a:p>
          <a:p>
            <a:pPr indent="0" lvl="0" marL="342900" rtl="0" algn="l">
              <a:spcBef>
                <a:spcPts val="0"/>
              </a:spcBef>
              <a:spcAft>
                <a:spcPts val="0"/>
              </a:spcAft>
              <a:buClr>
                <a:schemeClr val="dk1"/>
              </a:buClr>
              <a:buSzPts val="1100"/>
              <a:buFont typeface="Arial"/>
              <a:buNone/>
            </a:pPr>
            <a:r>
              <a:rPr b="1" lang="en-US" sz="2000">
                <a:latin typeface="Arial"/>
                <a:ea typeface="Arial"/>
                <a:cs typeface="Arial"/>
                <a:sym typeface="Arial"/>
              </a:rPr>
              <a:t>4.Scalable and Flexible</a:t>
            </a:r>
            <a:r>
              <a:rPr lang="en-US" sz="2000">
                <a:latin typeface="Arial"/>
                <a:ea typeface="Arial"/>
                <a:cs typeface="Arial"/>
                <a:sym typeface="Arial"/>
              </a:rPr>
              <a:t>: Can handle multiple subscriptions across various services, making it ideal for both personal and business use with varying levels of complexity.</a:t>
            </a:r>
            <a:endParaRPr sz="2000">
              <a:latin typeface="Arial"/>
              <a:ea typeface="Arial"/>
              <a:cs typeface="Arial"/>
              <a:sym typeface="Arial"/>
            </a:endParaRPr>
          </a:p>
          <a:p>
            <a:pPr indent="0" lvl="0" marL="342900" rtl="0" algn="l">
              <a:lnSpc>
                <a:spcPct val="114000"/>
              </a:lnSpc>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7"/>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Literature Survey</a:t>
            </a:r>
            <a:endParaRPr>
              <a:latin typeface="Calibri"/>
              <a:ea typeface="Calibri"/>
              <a:cs typeface="Calibri"/>
              <a:sym typeface="Calibri"/>
            </a:endParaRPr>
          </a:p>
        </p:txBody>
      </p:sp>
      <p:sp>
        <p:nvSpPr>
          <p:cNvPr id="127" name="Google Shape;127;p17"/>
          <p:cNvSpPr txBox="1"/>
          <p:nvPr>
            <p:ph idx="1" type="body"/>
          </p:nvPr>
        </p:nvSpPr>
        <p:spPr>
          <a:xfrm>
            <a:off x="190500" y="914400"/>
            <a:ext cx="8763000" cy="53340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15000"/>
              </a:lnSpc>
              <a:spcBef>
                <a:spcPts val="1200"/>
              </a:spcBef>
              <a:spcAft>
                <a:spcPts val="0"/>
              </a:spcAft>
              <a:buClr>
                <a:schemeClr val="dk1"/>
              </a:buClr>
              <a:buSzPts val="275"/>
              <a:buFont typeface="Arial"/>
              <a:buNone/>
            </a:pPr>
            <a:r>
              <a:rPr b="1" lang="en-US" sz="5200">
                <a:latin typeface="Arial"/>
                <a:ea typeface="Arial"/>
                <a:cs typeface="Arial"/>
                <a:sym typeface="Arial"/>
              </a:rPr>
              <a:t>Paper 1: </a:t>
            </a:r>
            <a:r>
              <a:rPr b="1" lang="en-US" sz="5200">
                <a:latin typeface="Arial"/>
                <a:ea typeface="Arial"/>
                <a:cs typeface="Arial"/>
                <a:sym typeface="Arial"/>
              </a:rPr>
              <a:t>Automating Email Reminders in UiPath</a:t>
            </a:r>
            <a:r>
              <a:rPr lang="en-US" sz="5200">
                <a:latin typeface="Arial"/>
                <a:ea typeface="Arial"/>
                <a:cs typeface="Arial"/>
                <a:sym typeface="Arial"/>
              </a:rPr>
              <a:t>: </a:t>
            </a:r>
            <a:endParaRPr sz="5200">
              <a:latin typeface="Arial"/>
              <a:ea typeface="Arial"/>
              <a:cs typeface="Arial"/>
              <a:sym typeface="Arial"/>
            </a:endParaRPr>
          </a:p>
          <a:p>
            <a:pPr indent="457200" lvl="0" marL="0" rtl="0" algn="l">
              <a:lnSpc>
                <a:spcPct val="115000"/>
              </a:lnSpc>
              <a:spcBef>
                <a:spcPts val="1200"/>
              </a:spcBef>
              <a:spcAft>
                <a:spcPts val="0"/>
              </a:spcAft>
              <a:buNone/>
            </a:pPr>
            <a:r>
              <a:rPr b="1" lang="en-US" sz="5200">
                <a:latin typeface="Arial"/>
                <a:ea typeface="Arial"/>
                <a:cs typeface="Arial"/>
                <a:sym typeface="Arial"/>
              </a:rPr>
              <a:t>Advantages</a:t>
            </a:r>
            <a:r>
              <a:rPr lang="en-US" sz="5200">
                <a:latin typeface="Arial"/>
                <a:ea typeface="Arial"/>
                <a:cs typeface="Arial"/>
                <a:sym typeface="Arial"/>
              </a:rPr>
              <a:t>:</a:t>
            </a:r>
            <a:endParaRPr sz="5200">
              <a:latin typeface="Arial"/>
              <a:ea typeface="Arial"/>
              <a:cs typeface="Arial"/>
              <a:sym typeface="Arial"/>
            </a:endParaRPr>
          </a:p>
          <a:p>
            <a:pPr indent="0" lvl="0" marL="914400" rtl="0" algn="l">
              <a:lnSpc>
                <a:spcPct val="115000"/>
              </a:lnSpc>
              <a:spcBef>
                <a:spcPts val="1200"/>
              </a:spcBef>
              <a:spcAft>
                <a:spcPts val="0"/>
              </a:spcAft>
              <a:buNone/>
            </a:pPr>
            <a:r>
              <a:rPr lang="en-US" sz="5200">
                <a:latin typeface="Arial"/>
                <a:ea typeface="Arial"/>
                <a:cs typeface="Arial"/>
                <a:sym typeface="Arial"/>
              </a:rPr>
              <a:t>Reduces manual oversight and automates time-consuming tasks like subscription renewal reminders.</a:t>
            </a:r>
            <a:endParaRPr sz="5200">
              <a:latin typeface="Arial"/>
              <a:ea typeface="Arial"/>
              <a:cs typeface="Arial"/>
              <a:sym typeface="Arial"/>
            </a:endParaRPr>
          </a:p>
          <a:p>
            <a:pPr indent="0" lvl="0" marL="914400" rtl="0" algn="l">
              <a:lnSpc>
                <a:spcPct val="115000"/>
              </a:lnSpc>
              <a:spcBef>
                <a:spcPts val="1200"/>
              </a:spcBef>
              <a:spcAft>
                <a:spcPts val="0"/>
              </a:spcAft>
              <a:buNone/>
            </a:pPr>
            <a:r>
              <a:rPr lang="en-US" sz="5200">
                <a:latin typeface="Arial"/>
                <a:ea typeface="Arial"/>
                <a:cs typeface="Arial"/>
                <a:sym typeface="Arial"/>
              </a:rPr>
              <a:t>Customizable email notifications, allowing for targeted communications based on user profiles.</a:t>
            </a:r>
            <a:endParaRPr sz="5200">
              <a:latin typeface="Arial"/>
              <a:ea typeface="Arial"/>
              <a:cs typeface="Arial"/>
              <a:sym typeface="Arial"/>
            </a:endParaRPr>
          </a:p>
          <a:p>
            <a:pPr indent="0" lvl="0" marL="457200" rtl="0" algn="l">
              <a:lnSpc>
                <a:spcPct val="115000"/>
              </a:lnSpc>
              <a:spcBef>
                <a:spcPts val="1200"/>
              </a:spcBef>
              <a:spcAft>
                <a:spcPts val="0"/>
              </a:spcAft>
              <a:buNone/>
            </a:pPr>
            <a:r>
              <a:rPr b="1" lang="en-US" sz="5200">
                <a:latin typeface="Arial"/>
                <a:ea typeface="Arial"/>
                <a:cs typeface="Arial"/>
                <a:sym typeface="Arial"/>
              </a:rPr>
              <a:t>Disadvantages</a:t>
            </a:r>
            <a:r>
              <a:rPr lang="en-US" sz="5200">
                <a:latin typeface="Arial"/>
                <a:ea typeface="Arial"/>
                <a:cs typeface="Arial"/>
                <a:sym typeface="Arial"/>
              </a:rPr>
              <a:t>:</a:t>
            </a:r>
            <a:endParaRPr sz="5200">
              <a:latin typeface="Arial"/>
              <a:ea typeface="Arial"/>
              <a:cs typeface="Arial"/>
              <a:sym typeface="Arial"/>
            </a:endParaRPr>
          </a:p>
          <a:p>
            <a:pPr indent="0" lvl="0" marL="914400" rtl="0" algn="l">
              <a:lnSpc>
                <a:spcPct val="115000"/>
              </a:lnSpc>
              <a:spcBef>
                <a:spcPts val="1200"/>
              </a:spcBef>
              <a:spcAft>
                <a:spcPts val="0"/>
              </a:spcAft>
              <a:buNone/>
            </a:pPr>
            <a:r>
              <a:rPr lang="en-US" sz="5200">
                <a:latin typeface="Arial"/>
                <a:ea typeface="Arial"/>
                <a:cs typeface="Arial"/>
                <a:sym typeface="Arial"/>
              </a:rPr>
              <a:t>Requires detailed setup to ensure that bots correctly track and categorize user data.</a:t>
            </a:r>
            <a:endParaRPr sz="5200">
              <a:latin typeface="Arial"/>
              <a:ea typeface="Arial"/>
              <a:cs typeface="Arial"/>
              <a:sym typeface="Arial"/>
            </a:endParaRPr>
          </a:p>
          <a:p>
            <a:pPr indent="0" lvl="0" marL="914400" rtl="0" algn="l">
              <a:lnSpc>
                <a:spcPct val="115000"/>
              </a:lnSpc>
              <a:spcBef>
                <a:spcPts val="1200"/>
              </a:spcBef>
              <a:spcAft>
                <a:spcPts val="0"/>
              </a:spcAft>
              <a:buNone/>
            </a:pPr>
            <a:r>
              <a:rPr lang="en-US" sz="5200">
                <a:latin typeface="Arial"/>
                <a:ea typeface="Arial"/>
                <a:cs typeface="Arial"/>
                <a:sym typeface="Arial"/>
              </a:rPr>
              <a:t>Can lead to system errors if email templates or triggers are not set up properly​</a:t>
            </a:r>
            <a:endParaRPr sz="5200">
              <a:latin typeface="Arial"/>
              <a:ea typeface="Arial"/>
              <a:cs typeface="Arial"/>
              <a:sym typeface="Arial"/>
            </a:endParaRPr>
          </a:p>
          <a:p>
            <a:pPr indent="0" lvl="0" marL="0" rtl="0" algn="l">
              <a:lnSpc>
                <a:spcPct val="115000"/>
              </a:lnSpc>
              <a:spcBef>
                <a:spcPts val="1200"/>
              </a:spcBef>
              <a:spcAft>
                <a:spcPts val="0"/>
              </a:spcAft>
              <a:buNone/>
            </a:pPr>
            <a:r>
              <a:rPr b="1" lang="en-US" sz="5200">
                <a:latin typeface="Arial"/>
                <a:ea typeface="Arial"/>
                <a:cs typeface="Arial"/>
                <a:sym typeface="Arial"/>
              </a:rPr>
              <a:t>Paper 2: Setting Attended Bots for Reminder Automation</a:t>
            </a:r>
            <a:r>
              <a:rPr lang="en-US" sz="5200">
                <a:latin typeface="Arial"/>
                <a:ea typeface="Arial"/>
                <a:cs typeface="Arial"/>
                <a:sym typeface="Arial"/>
              </a:rPr>
              <a:t>:</a:t>
            </a:r>
            <a:endParaRPr sz="5200">
              <a:latin typeface="Arial"/>
              <a:ea typeface="Arial"/>
              <a:cs typeface="Arial"/>
              <a:sym typeface="Arial"/>
            </a:endParaRPr>
          </a:p>
          <a:p>
            <a:pPr indent="0" lvl="0" marL="0" rtl="0" algn="l">
              <a:lnSpc>
                <a:spcPct val="115000"/>
              </a:lnSpc>
              <a:spcBef>
                <a:spcPts val="1200"/>
              </a:spcBef>
              <a:spcAft>
                <a:spcPts val="0"/>
              </a:spcAft>
              <a:buNone/>
            </a:pPr>
            <a:r>
              <a:rPr lang="en-US" sz="5200">
                <a:latin typeface="Arial"/>
                <a:ea typeface="Arial"/>
                <a:cs typeface="Arial"/>
                <a:sym typeface="Arial"/>
              </a:rPr>
              <a:t>	</a:t>
            </a:r>
            <a:r>
              <a:rPr b="1" lang="en-US" sz="5200">
                <a:latin typeface="Arial"/>
                <a:ea typeface="Arial"/>
                <a:cs typeface="Arial"/>
                <a:sym typeface="Arial"/>
              </a:rPr>
              <a:t>Advantages</a:t>
            </a:r>
            <a:r>
              <a:rPr lang="en-US" sz="5200">
                <a:latin typeface="Arial"/>
                <a:ea typeface="Arial"/>
                <a:cs typeface="Arial"/>
                <a:sym typeface="Arial"/>
              </a:rPr>
              <a:t>:</a:t>
            </a:r>
            <a:endParaRPr sz="5200">
              <a:latin typeface="Arial"/>
              <a:ea typeface="Arial"/>
              <a:cs typeface="Arial"/>
              <a:sym typeface="Arial"/>
            </a:endParaRPr>
          </a:p>
          <a:p>
            <a:pPr indent="0" lvl="0" marL="457200" rtl="0" algn="l">
              <a:lnSpc>
                <a:spcPct val="115000"/>
              </a:lnSpc>
              <a:spcBef>
                <a:spcPts val="1200"/>
              </a:spcBef>
              <a:spcAft>
                <a:spcPts val="0"/>
              </a:spcAft>
              <a:buNone/>
            </a:pPr>
            <a:r>
              <a:rPr lang="en-US" sz="5200">
                <a:latin typeface="Arial"/>
                <a:ea typeface="Arial"/>
                <a:cs typeface="Arial"/>
                <a:sym typeface="Arial"/>
              </a:rPr>
              <a:t>Facilitates timely reminders to users for critical processes, ensuring no steps are missed.</a:t>
            </a:r>
            <a:endParaRPr sz="5200">
              <a:latin typeface="Arial"/>
              <a:ea typeface="Arial"/>
              <a:cs typeface="Arial"/>
              <a:sym typeface="Arial"/>
            </a:endParaRPr>
          </a:p>
          <a:p>
            <a:pPr indent="0" lvl="0" marL="457200" rtl="0" algn="l">
              <a:lnSpc>
                <a:spcPct val="115000"/>
              </a:lnSpc>
              <a:spcBef>
                <a:spcPts val="1200"/>
              </a:spcBef>
              <a:spcAft>
                <a:spcPts val="0"/>
              </a:spcAft>
              <a:buNone/>
            </a:pPr>
            <a:r>
              <a:rPr lang="en-US" sz="5200">
                <a:latin typeface="Arial"/>
                <a:ea typeface="Arial"/>
                <a:cs typeface="Arial"/>
                <a:sym typeface="Arial"/>
              </a:rPr>
              <a:t>Enhances communication by sending reminders via various channels such as emails or system notifications.</a:t>
            </a:r>
            <a:endParaRPr sz="5200">
              <a:latin typeface="Arial"/>
              <a:ea typeface="Arial"/>
              <a:cs typeface="Arial"/>
              <a:sym typeface="Arial"/>
            </a:endParaRPr>
          </a:p>
          <a:p>
            <a:pPr indent="457200" lvl="0" marL="0" rtl="0" algn="l">
              <a:lnSpc>
                <a:spcPct val="115000"/>
              </a:lnSpc>
              <a:spcBef>
                <a:spcPts val="1200"/>
              </a:spcBef>
              <a:spcAft>
                <a:spcPts val="0"/>
              </a:spcAft>
              <a:buClr>
                <a:schemeClr val="dk1"/>
              </a:buClr>
              <a:buSzPts val="275"/>
              <a:buFont typeface="Arial"/>
              <a:buNone/>
            </a:pPr>
            <a:r>
              <a:rPr b="1" lang="en-US" sz="5200">
                <a:latin typeface="Arial"/>
                <a:ea typeface="Arial"/>
                <a:cs typeface="Arial"/>
                <a:sym typeface="Arial"/>
              </a:rPr>
              <a:t>Disadvantages</a:t>
            </a:r>
            <a:r>
              <a:rPr lang="en-US" sz="5200">
                <a:latin typeface="Arial"/>
                <a:ea typeface="Arial"/>
                <a:cs typeface="Arial"/>
                <a:sym typeface="Arial"/>
              </a:rPr>
              <a:t>:</a:t>
            </a:r>
            <a:endParaRPr sz="5200">
              <a:latin typeface="Arial"/>
              <a:ea typeface="Arial"/>
              <a:cs typeface="Arial"/>
              <a:sym typeface="Arial"/>
            </a:endParaRPr>
          </a:p>
          <a:p>
            <a:pPr indent="0" lvl="0" marL="457200" rtl="0" algn="l">
              <a:lnSpc>
                <a:spcPct val="115000"/>
              </a:lnSpc>
              <a:spcBef>
                <a:spcPts val="1200"/>
              </a:spcBef>
              <a:spcAft>
                <a:spcPts val="0"/>
              </a:spcAft>
              <a:buNone/>
            </a:pPr>
            <a:r>
              <a:rPr lang="en-US" sz="5200">
                <a:latin typeface="Arial"/>
                <a:ea typeface="Arial"/>
                <a:cs typeface="Arial"/>
                <a:sym typeface="Arial"/>
              </a:rPr>
              <a:t>Attended bots require active user engagement, which may not always be feasible.</a:t>
            </a:r>
            <a:endParaRPr sz="5200">
              <a:latin typeface="Arial"/>
              <a:ea typeface="Arial"/>
              <a:cs typeface="Arial"/>
              <a:sym typeface="Arial"/>
            </a:endParaRPr>
          </a:p>
          <a:p>
            <a:pPr indent="0" lvl="0" marL="457200" rtl="0" algn="l">
              <a:lnSpc>
                <a:spcPct val="115000"/>
              </a:lnSpc>
              <a:spcBef>
                <a:spcPts val="1200"/>
              </a:spcBef>
              <a:spcAft>
                <a:spcPts val="0"/>
              </a:spcAft>
              <a:buNone/>
            </a:pPr>
            <a:r>
              <a:rPr lang="en-US" sz="5200">
                <a:latin typeface="Arial"/>
                <a:ea typeface="Arial"/>
                <a:cs typeface="Arial"/>
                <a:sym typeface="Arial"/>
              </a:rPr>
              <a:t>Complexity increases with larger user bases, as tracking each user's engagement might demand additional resources</a:t>
            </a:r>
            <a:endParaRPr sz="5200">
              <a:latin typeface="Arial"/>
              <a:ea typeface="Arial"/>
              <a:cs typeface="Arial"/>
              <a:sym typeface="Arial"/>
            </a:endParaRPr>
          </a:p>
          <a:p>
            <a:pPr indent="0" lvl="0" marL="0" rtl="0" algn="l">
              <a:lnSpc>
                <a:spcPct val="115000"/>
              </a:lnSpc>
              <a:spcBef>
                <a:spcPts val="1200"/>
              </a:spcBef>
              <a:spcAft>
                <a:spcPts val="0"/>
              </a:spcAft>
              <a:buNone/>
            </a:pPr>
            <a:r>
              <a:t/>
            </a:r>
            <a:endParaRPr sz="1100">
              <a:latin typeface="Arial"/>
              <a:ea typeface="Arial"/>
              <a:cs typeface="Arial"/>
              <a:sym typeface="Arial"/>
            </a:endParaRPr>
          </a:p>
          <a:p>
            <a:pPr indent="0" lvl="0" marL="342900" rtl="0" algn="l">
              <a:lnSpc>
                <a:spcPct val="114000"/>
              </a:lnSpc>
              <a:spcBef>
                <a:spcPts val="1200"/>
              </a:spcBef>
              <a:spcAft>
                <a:spcPts val="0"/>
              </a:spcAft>
              <a:buNone/>
            </a:pPr>
            <a:r>
              <a:t/>
            </a:r>
            <a:endParaRPr b="1" sz="1100">
              <a:latin typeface="Arial"/>
              <a:ea typeface="Arial"/>
              <a:cs typeface="Arial"/>
              <a:sym typeface="Arial"/>
            </a:endParaRPr>
          </a:p>
          <a:p>
            <a:pPr indent="-190500" lvl="0" marL="342900" rtl="0" algn="l">
              <a:lnSpc>
                <a:spcPct val="114000"/>
              </a:lnSpc>
              <a:spcBef>
                <a:spcPts val="480"/>
              </a:spcBef>
              <a:spcAft>
                <a:spcPts val="0"/>
              </a:spcAft>
              <a:buClr>
                <a:schemeClr val="dk1"/>
              </a:buClr>
              <a:buSzPct val="100000"/>
              <a:buFont typeface="Noto Sans Symbols"/>
              <a:buNone/>
            </a:pPr>
            <a:r>
              <a:t/>
            </a:r>
            <a:endParaRPr/>
          </a:p>
          <a:p>
            <a:pPr indent="-190500" lvl="0" marL="342900" rtl="0" algn="l">
              <a:lnSpc>
                <a:spcPct val="114000"/>
              </a:lnSpc>
              <a:spcBef>
                <a:spcPts val="480"/>
              </a:spcBef>
              <a:spcAft>
                <a:spcPts val="0"/>
              </a:spcAft>
              <a:buClr>
                <a:schemeClr val="dk1"/>
              </a:buClr>
              <a:buSzPct val="100000"/>
              <a:buFont typeface="Noto Sans Symbols"/>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8"/>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Main Objective</a:t>
            </a:r>
            <a:endParaRPr>
              <a:latin typeface="Calibri"/>
              <a:ea typeface="Calibri"/>
              <a:cs typeface="Calibri"/>
              <a:sym typeface="Calibri"/>
            </a:endParaRPr>
          </a:p>
        </p:txBody>
      </p:sp>
      <p:sp>
        <p:nvSpPr>
          <p:cNvPr id="134" name="Google Shape;134;p18"/>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115000"/>
              </a:lnSpc>
              <a:spcBef>
                <a:spcPts val="1200"/>
              </a:spcBef>
              <a:spcAft>
                <a:spcPts val="0"/>
              </a:spcAft>
              <a:buSzPts val="2400"/>
              <a:buChar char="▪"/>
            </a:pPr>
            <a:r>
              <a:rPr lang="en-US"/>
              <a:t>The main objective of the Subscription Reminder Bot project is to automate the tracking and notification of subscription renewals using UiPath Studio, ensuring that users do not miss critical deadlines for various services. By integrating data from multiple sources, the bot will send timely reminders via email or other channels to keep users informed about upcoming renewals. This will not only enhance user convenience by reducing manual tracking efforts but also help in avoiding late fees or service interruptions. The bot's scalability and adaptability will make it suitable for both personal and business use, improving overall subscription management efficiency.</a:t>
            </a:r>
            <a:endParaRPr/>
          </a:p>
          <a:p>
            <a:pPr indent="0" lvl="0" marL="0" rtl="0" algn="l">
              <a:lnSpc>
                <a:spcPct val="115000"/>
              </a:lnSpc>
              <a:spcBef>
                <a:spcPts val="1200"/>
              </a:spcBef>
              <a:spcAft>
                <a:spcPts val="0"/>
              </a:spcAft>
              <a:buNone/>
            </a:pPr>
            <a:r>
              <a:t/>
            </a:r>
            <a:endParaRPr/>
          </a:p>
          <a:p>
            <a:pPr indent="0" lvl="0" marL="342900" rtl="0" algn="l">
              <a:lnSpc>
                <a:spcPct val="114000"/>
              </a:lnSpc>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9"/>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Architecture</a:t>
            </a:r>
            <a:endParaRPr>
              <a:latin typeface="Calibri"/>
              <a:ea typeface="Calibri"/>
              <a:cs typeface="Calibri"/>
              <a:sym typeface="Calibri"/>
            </a:endParaRPr>
          </a:p>
        </p:txBody>
      </p:sp>
      <p:pic>
        <p:nvPicPr>
          <p:cNvPr id="141" name="Google Shape;141;p19"/>
          <p:cNvPicPr preferRelativeResize="0"/>
          <p:nvPr/>
        </p:nvPicPr>
        <p:blipFill rotWithShape="1">
          <a:blip r:embed="rId3">
            <a:alphaModFix/>
          </a:blip>
          <a:srcRect b="5980" l="0" r="0" t="-5980"/>
          <a:stretch/>
        </p:blipFill>
        <p:spPr>
          <a:xfrm>
            <a:off x="1738675" y="1088550"/>
            <a:ext cx="6486075" cy="48078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0"/>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System Requirements</a:t>
            </a:r>
            <a:endParaRPr>
              <a:latin typeface="Calibri"/>
              <a:ea typeface="Calibri"/>
              <a:cs typeface="Calibri"/>
              <a:sym typeface="Calibri"/>
            </a:endParaRPr>
          </a:p>
        </p:txBody>
      </p:sp>
      <p:sp>
        <p:nvSpPr>
          <p:cNvPr id="148" name="Google Shape;148;p20"/>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15000"/>
              </a:lnSpc>
              <a:spcBef>
                <a:spcPts val="1200"/>
              </a:spcBef>
              <a:spcAft>
                <a:spcPts val="0"/>
              </a:spcAft>
              <a:buClr>
                <a:schemeClr val="dk1"/>
              </a:buClr>
              <a:buSzPts val="1100"/>
              <a:buFont typeface="Arial"/>
              <a:buNone/>
            </a:pPr>
            <a:r>
              <a:rPr b="1" lang="en-US" sz="1600">
                <a:latin typeface="Arial"/>
                <a:ea typeface="Arial"/>
                <a:cs typeface="Arial"/>
                <a:sym typeface="Arial"/>
              </a:rPr>
              <a:t>Hardware Requirements:</a:t>
            </a:r>
            <a:endParaRPr b="1" sz="1600">
              <a:latin typeface="Arial"/>
              <a:ea typeface="Arial"/>
              <a:cs typeface="Arial"/>
              <a:sym typeface="Arial"/>
            </a:endParaRPr>
          </a:p>
          <a:p>
            <a:pPr indent="-330200" lvl="0" marL="457200" rtl="0" algn="l">
              <a:lnSpc>
                <a:spcPct val="115000"/>
              </a:lnSpc>
              <a:spcBef>
                <a:spcPts val="1200"/>
              </a:spcBef>
              <a:spcAft>
                <a:spcPts val="0"/>
              </a:spcAft>
              <a:buSzPts val="1600"/>
              <a:buFont typeface="Arial"/>
              <a:buAutoNum type="arabicPeriod"/>
            </a:pPr>
            <a:r>
              <a:rPr b="1" lang="en-US" sz="1600">
                <a:latin typeface="Arial"/>
                <a:ea typeface="Arial"/>
                <a:cs typeface="Arial"/>
                <a:sym typeface="Arial"/>
              </a:rPr>
              <a:t>Processor</a:t>
            </a:r>
            <a:r>
              <a:rPr lang="en-US" sz="1600">
                <a:latin typeface="Arial"/>
                <a:ea typeface="Arial"/>
                <a:cs typeface="Arial"/>
                <a:sym typeface="Arial"/>
              </a:rPr>
              <a:t>: Intel i3 (or equivalent) or higher; recommended Intel i5/i7 for better performance.</a:t>
            </a: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AutoNum type="arabicPeriod"/>
            </a:pPr>
            <a:r>
              <a:rPr b="1" lang="en-US" sz="1600">
                <a:latin typeface="Arial"/>
                <a:ea typeface="Arial"/>
                <a:cs typeface="Arial"/>
                <a:sym typeface="Arial"/>
              </a:rPr>
              <a:t>RAM</a:t>
            </a:r>
            <a:r>
              <a:rPr lang="en-US" sz="1600">
                <a:latin typeface="Arial"/>
                <a:ea typeface="Arial"/>
                <a:cs typeface="Arial"/>
                <a:sym typeface="Arial"/>
              </a:rPr>
              <a:t>: Minimum 4GB; recommended 8GB or more for smoother operation.</a:t>
            </a: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AutoNum type="arabicPeriod"/>
            </a:pPr>
            <a:r>
              <a:rPr b="1" lang="en-US" sz="1600">
                <a:latin typeface="Arial"/>
                <a:ea typeface="Arial"/>
                <a:cs typeface="Arial"/>
                <a:sym typeface="Arial"/>
              </a:rPr>
              <a:t>Storage</a:t>
            </a:r>
            <a:r>
              <a:rPr lang="en-US" sz="1600">
                <a:latin typeface="Arial"/>
                <a:ea typeface="Arial"/>
                <a:cs typeface="Arial"/>
                <a:sym typeface="Arial"/>
              </a:rPr>
              <a:t>: At least 20GB of free disk space for UiPath installation, temporary files, and logs.</a:t>
            </a: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AutoNum type="arabicPeriod"/>
            </a:pPr>
            <a:r>
              <a:rPr b="1" lang="en-US" sz="1600">
                <a:latin typeface="Arial"/>
                <a:ea typeface="Arial"/>
                <a:cs typeface="Arial"/>
                <a:sym typeface="Arial"/>
              </a:rPr>
              <a:t>Operating System</a:t>
            </a:r>
            <a:r>
              <a:rPr lang="en-US" sz="1600">
                <a:latin typeface="Arial"/>
                <a:ea typeface="Arial"/>
                <a:cs typeface="Arial"/>
                <a:sym typeface="Arial"/>
              </a:rPr>
              <a:t>: Windows 10 or later (64-bit) is recommended.</a:t>
            </a: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AutoNum type="arabicPeriod"/>
            </a:pPr>
            <a:r>
              <a:rPr b="1" lang="en-US" sz="1600">
                <a:latin typeface="Arial"/>
                <a:ea typeface="Arial"/>
                <a:cs typeface="Arial"/>
                <a:sym typeface="Arial"/>
              </a:rPr>
              <a:t>Network</a:t>
            </a:r>
            <a:r>
              <a:rPr lang="en-US" sz="1600">
                <a:latin typeface="Arial"/>
                <a:ea typeface="Arial"/>
                <a:cs typeface="Arial"/>
                <a:sym typeface="Arial"/>
              </a:rPr>
              <a:t>: Stable internet connection for UiPath Orchestrator integration and email notifications.</a:t>
            </a:r>
            <a:endParaRPr sz="1600">
              <a:latin typeface="Arial"/>
              <a:ea typeface="Arial"/>
              <a:cs typeface="Arial"/>
              <a:sym typeface="Arial"/>
            </a:endParaRPr>
          </a:p>
          <a:p>
            <a:pPr indent="0" lvl="0" marL="0" rtl="0" algn="l">
              <a:lnSpc>
                <a:spcPct val="115000"/>
              </a:lnSpc>
              <a:spcBef>
                <a:spcPts val="1200"/>
              </a:spcBef>
              <a:spcAft>
                <a:spcPts val="0"/>
              </a:spcAft>
              <a:buNone/>
            </a:pPr>
            <a:r>
              <a:rPr b="1" lang="en-US" sz="1600">
                <a:latin typeface="Arial"/>
                <a:ea typeface="Arial"/>
                <a:cs typeface="Arial"/>
                <a:sym typeface="Arial"/>
              </a:rPr>
              <a:t>Software Requirements:</a:t>
            </a:r>
            <a:endParaRPr b="1" sz="1600">
              <a:latin typeface="Arial"/>
              <a:ea typeface="Arial"/>
              <a:cs typeface="Arial"/>
              <a:sym typeface="Arial"/>
            </a:endParaRPr>
          </a:p>
          <a:p>
            <a:pPr indent="-330200" lvl="0" marL="457200" rtl="0" algn="l">
              <a:lnSpc>
                <a:spcPct val="115000"/>
              </a:lnSpc>
              <a:spcBef>
                <a:spcPts val="1200"/>
              </a:spcBef>
              <a:spcAft>
                <a:spcPts val="0"/>
              </a:spcAft>
              <a:buSzPts val="1600"/>
              <a:buFont typeface="Arial"/>
              <a:buAutoNum type="arabicPeriod"/>
            </a:pPr>
            <a:r>
              <a:rPr b="1" lang="en-US" sz="1600">
                <a:latin typeface="Arial"/>
                <a:ea typeface="Arial"/>
                <a:cs typeface="Arial"/>
                <a:sym typeface="Arial"/>
              </a:rPr>
              <a:t>UiPath Studio</a:t>
            </a:r>
            <a:r>
              <a:rPr lang="en-US" sz="1600">
                <a:latin typeface="Arial"/>
                <a:ea typeface="Arial"/>
                <a:cs typeface="Arial"/>
                <a:sym typeface="Arial"/>
              </a:rPr>
              <a:t>: Latest Community or Enterprise Edition.</a:t>
            </a: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AutoNum type="arabicPeriod"/>
            </a:pPr>
            <a:r>
              <a:rPr b="1" lang="en-US" sz="1600">
                <a:latin typeface="Arial"/>
                <a:ea typeface="Arial"/>
                <a:cs typeface="Arial"/>
                <a:sym typeface="Arial"/>
              </a:rPr>
              <a:t>UiPath Orchestrator</a:t>
            </a:r>
            <a:r>
              <a:rPr lang="en-US" sz="1600">
                <a:latin typeface="Arial"/>
                <a:ea typeface="Arial"/>
                <a:cs typeface="Arial"/>
                <a:sym typeface="Arial"/>
              </a:rPr>
              <a:t>: Optional for advanced scheduling and bot monitoring.</a:t>
            </a: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AutoNum type="arabicPeriod"/>
            </a:pPr>
            <a:r>
              <a:rPr b="1" lang="en-US" sz="1600">
                <a:latin typeface="Arial"/>
                <a:ea typeface="Arial"/>
                <a:cs typeface="Arial"/>
                <a:sym typeface="Arial"/>
              </a:rPr>
              <a:t>.NET Framework</a:t>
            </a:r>
            <a:r>
              <a:rPr lang="en-US" sz="1600">
                <a:latin typeface="Arial"/>
                <a:ea typeface="Arial"/>
                <a:cs typeface="Arial"/>
                <a:sym typeface="Arial"/>
              </a:rPr>
              <a:t>: Version 4.7.2 or later.</a:t>
            </a: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AutoNum type="arabicPeriod"/>
            </a:pPr>
            <a:r>
              <a:rPr b="1" lang="en-US" sz="1600">
                <a:latin typeface="Arial"/>
                <a:ea typeface="Arial"/>
                <a:cs typeface="Arial"/>
                <a:sym typeface="Arial"/>
              </a:rPr>
              <a:t>Email Client/Service</a:t>
            </a:r>
            <a:r>
              <a:rPr lang="en-US" sz="1600">
                <a:latin typeface="Arial"/>
                <a:ea typeface="Arial"/>
                <a:cs typeface="Arial"/>
                <a:sym typeface="Arial"/>
              </a:rPr>
              <a:t>: SMTP setup (e.g., Gmail, Outlook) for sending reminders.</a:t>
            </a: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AutoNum type="arabicPeriod"/>
            </a:pPr>
            <a:r>
              <a:rPr b="1" lang="en-US" sz="1600">
                <a:latin typeface="Arial"/>
                <a:ea typeface="Arial"/>
                <a:cs typeface="Arial"/>
                <a:sym typeface="Arial"/>
              </a:rPr>
              <a:t>Database</a:t>
            </a:r>
            <a:r>
              <a:rPr lang="en-US" sz="1600">
                <a:latin typeface="Arial"/>
                <a:ea typeface="Arial"/>
                <a:cs typeface="Arial"/>
                <a:sym typeface="Arial"/>
              </a:rPr>
              <a:t>: Optional, such as MS SQL Server or SQLite, if managing large-scale subscription data.</a:t>
            </a:r>
            <a:endParaRPr sz="1600">
              <a:latin typeface="Arial"/>
              <a:ea typeface="Arial"/>
              <a:cs typeface="Arial"/>
              <a:sym typeface="Arial"/>
            </a:endParaRPr>
          </a:p>
          <a:p>
            <a:pPr indent="-298450" lvl="0" marL="457200" rtl="0" algn="l">
              <a:lnSpc>
                <a:spcPct val="115000"/>
              </a:lnSpc>
              <a:spcBef>
                <a:spcPts val="0"/>
              </a:spcBef>
              <a:spcAft>
                <a:spcPts val="0"/>
              </a:spcAft>
              <a:buSzPts val="1100"/>
              <a:buFont typeface="Arial"/>
              <a:buAutoNum type="arabicPeriod"/>
            </a:pPr>
            <a:r>
              <a:rPr b="1" lang="en-US" sz="1600">
                <a:latin typeface="Arial"/>
                <a:ea typeface="Arial"/>
                <a:cs typeface="Arial"/>
                <a:sym typeface="Arial"/>
              </a:rPr>
              <a:t>Excel or Google Sheets</a:t>
            </a:r>
            <a:r>
              <a:rPr lang="en-US" sz="1600">
                <a:latin typeface="Arial"/>
                <a:ea typeface="Arial"/>
                <a:cs typeface="Arial"/>
                <a:sym typeface="Arial"/>
              </a:rPr>
              <a:t>: For managing subscription data</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14000"/>
              </a:lnSpc>
              <a:spcBef>
                <a:spcPts val="1200"/>
              </a:spcBef>
              <a:spcAft>
                <a:spcPts val="0"/>
              </a:spcAft>
              <a:buNone/>
            </a:pPr>
            <a:r>
              <a:t/>
            </a:r>
            <a:endParaRPr b="1" sz="110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1"/>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Functional Description</a:t>
            </a:r>
            <a:endParaRPr>
              <a:latin typeface="Calibri"/>
              <a:ea typeface="Calibri"/>
              <a:cs typeface="Calibri"/>
              <a:sym typeface="Calibri"/>
            </a:endParaRPr>
          </a:p>
        </p:txBody>
      </p:sp>
      <p:sp>
        <p:nvSpPr>
          <p:cNvPr id="155" name="Google Shape;155;p21"/>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Subscription Tracking Module</a:t>
            </a:r>
            <a:r>
              <a:rPr lang="en-US" sz="1100">
                <a:latin typeface="Arial"/>
                <a:ea typeface="Arial"/>
                <a:cs typeface="Arial"/>
                <a:sym typeface="Arial"/>
              </a:rPr>
              <a:t>:</a:t>
            </a:r>
            <a:endParaRPr sz="1100">
              <a:latin typeface="Arial"/>
              <a:ea typeface="Arial"/>
              <a:cs typeface="Arial"/>
              <a:sym typeface="Arial"/>
            </a:endParaRPr>
          </a:p>
          <a:p>
            <a:pPr indent="-298450" lvl="0" marL="457200" rtl="0" algn="l">
              <a:lnSpc>
                <a:spcPct val="115000"/>
              </a:lnSpc>
              <a:spcBef>
                <a:spcPts val="1200"/>
              </a:spcBef>
              <a:spcAft>
                <a:spcPts val="0"/>
              </a:spcAft>
              <a:buSzPts val="1100"/>
              <a:buFont typeface="Arial"/>
              <a:buChar char="●"/>
            </a:pPr>
            <a:r>
              <a:rPr lang="en-US" sz="1100">
                <a:latin typeface="Arial"/>
                <a:ea typeface="Arial"/>
                <a:cs typeface="Arial"/>
                <a:sym typeface="Arial"/>
              </a:rPr>
              <a:t>Inputs subscription details and validates them.</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Char char="●"/>
            </a:pPr>
            <a:r>
              <a:rPr lang="en-US" sz="1100">
                <a:latin typeface="Arial"/>
                <a:ea typeface="Arial"/>
                <a:cs typeface="Arial"/>
                <a:sym typeface="Arial"/>
              </a:rPr>
              <a:t>If valid, the data is stored in the database. If not, an error message is displayed.</a:t>
            </a:r>
            <a:endParaRPr sz="1100">
              <a:latin typeface="Arial"/>
              <a:ea typeface="Arial"/>
              <a:cs typeface="Arial"/>
              <a:sym typeface="Arial"/>
            </a:endParaRPr>
          </a:p>
          <a:p>
            <a:pPr indent="0" lvl="0" marL="342900" rtl="0" algn="l">
              <a:lnSpc>
                <a:spcPct val="114000"/>
              </a:lnSpc>
              <a:spcBef>
                <a:spcPts val="1200"/>
              </a:spcBef>
              <a:spcAft>
                <a:spcPts val="0"/>
              </a:spcAft>
              <a:buNone/>
            </a:pPr>
            <a:r>
              <a:t/>
            </a:r>
            <a:endParaRPr/>
          </a:p>
          <a:p>
            <a:pPr indent="-190500" lvl="0" marL="342900" rtl="0" algn="l">
              <a:lnSpc>
                <a:spcPct val="114000"/>
              </a:lnSpc>
              <a:spcBef>
                <a:spcPts val="480"/>
              </a:spcBef>
              <a:spcAft>
                <a:spcPts val="0"/>
              </a:spcAft>
              <a:buClr>
                <a:schemeClr val="dk1"/>
              </a:buClr>
              <a:buSzPts val="2400"/>
              <a:buFont typeface="Noto Sans Symbols"/>
              <a:buNone/>
            </a:pPr>
            <a:r>
              <a:t/>
            </a:r>
            <a:endParaRPr/>
          </a:p>
        </p:txBody>
      </p:sp>
      <p:pic>
        <p:nvPicPr>
          <p:cNvPr id="156" name="Google Shape;156;p21"/>
          <p:cNvPicPr preferRelativeResize="0"/>
          <p:nvPr/>
        </p:nvPicPr>
        <p:blipFill>
          <a:blip r:embed="rId3">
            <a:alphaModFix/>
          </a:blip>
          <a:stretch>
            <a:fillRect/>
          </a:stretch>
        </p:blipFill>
        <p:spPr>
          <a:xfrm>
            <a:off x="1073250" y="2165875"/>
            <a:ext cx="6721150" cy="34385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2"/>
          <p:cNvSpPr txBox="1"/>
          <p:nvPr>
            <p:ph type="title"/>
          </p:nvPr>
        </p:nvSpPr>
        <p:spPr>
          <a:xfrm>
            <a:off x="190500" y="106363"/>
            <a:ext cx="8763000" cy="8079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Functional Description</a:t>
            </a:r>
            <a:endParaRPr>
              <a:latin typeface="Calibri"/>
              <a:ea typeface="Calibri"/>
              <a:cs typeface="Calibri"/>
              <a:sym typeface="Calibri"/>
            </a:endParaRPr>
          </a:p>
        </p:txBody>
      </p:sp>
      <p:sp>
        <p:nvSpPr>
          <p:cNvPr id="163" name="Google Shape;163;p22"/>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Reminder Notification Module</a:t>
            </a:r>
            <a:r>
              <a:rPr lang="en-US" sz="1100">
                <a:latin typeface="Arial"/>
                <a:ea typeface="Arial"/>
                <a:cs typeface="Arial"/>
                <a:sym typeface="Arial"/>
              </a:rPr>
              <a:t>:</a:t>
            </a:r>
            <a:endParaRPr sz="1100">
              <a:latin typeface="Arial"/>
              <a:ea typeface="Arial"/>
              <a:cs typeface="Arial"/>
              <a:sym typeface="Arial"/>
            </a:endParaRPr>
          </a:p>
          <a:p>
            <a:pPr indent="-298450" lvl="0" marL="457200" rtl="0" algn="l">
              <a:lnSpc>
                <a:spcPct val="115000"/>
              </a:lnSpc>
              <a:spcBef>
                <a:spcPts val="1200"/>
              </a:spcBef>
              <a:spcAft>
                <a:spcPts val="0"/>
              </a:spcAft>
              <a:buSzPts val="1100"/>
              <a:buFont typeface="Arial"/>
              <a:buChar char="●"/>
            </a:pPr>
            <a:r>
              <a:rPr lang="en-US" sz="1100">
                <a:latin typeface="Arial"/>
                <a:ea typeface="Arial"/>
                <a:cs typeface="Arial"/>
                <a:sym typeface="Arial"/>
              </a:rPr>
              <a:t>Checks if any subscription's renewal date is near.</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Char char="●"/>
            </a:pPr>
            <a:r>
              <a:rPr lang="en-US" sz="1100">
                <a:latin typeface="Arial"/>
                <a:ea typeface="Arial"/>
                <a:cs typeface="Arial"/>
                <a:sym typeface="Arial"/>
              </a:rPr>
              <a:t>Sends a reminder notification via email.</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Char char="●"/>
            </a:pPr>
            <a:r>
              <a:rPr lang="en-US" sz="1100">
                <a:latin typeface="Arial"/>
                <a:ea typeface="Arial"/>
                <a:cs typeface="Arial"/>
                <a:sym typeface="Arial"/>
              </a:rPr>
              <a:t>Logs the notification status or retries if sending fails.</a:t>
            </a:r>
            <a:endParaRPr sz="1100">
              <a:latin typeface="Arial"/>
              <a:ea typeface="Arial"/>
              <a:cs typeface="Arial"/>
              <a:sym typeface="Arial"/>
            </a:endParaRPr>
          </a:p>
          <a:p>
            <a:pPr indent="0" lvl="0" marL="342900" rtl="0" algn="l">
              <a:lnSpc>
                <a:spcPct val="114000"/>
              </a:lnSpc>
              <a:spcBef>
                <a:spcPts val="1200"/>
              </a:spcBef>
              <a:spcAft>
                <a:spcPts val="0"/>
              </a:spcAft>
              <a:buNone/>
            </a:pPr>
            <a:r>
              <a:t/>
            </a:r>
            <a:endParaRPr/>
          </a:p>
          <a:p>
            <a:pPr indent="-190500" lvl="0" marL="342900" rtl="0" algn="l">
              <a:lnSpc>
                <a:spcPct val="114000"/>
              </a:lnSpc>
              <a:spcBef>
                <a:spcPts val="480"/>
              </a:spcBef>
              <a:spcAft>
                <a:spcPts val="0"/>
              </a:spcAft>
              <a:buClr>
                <a:schemeClr val="dk1"/>
              </a:buClr>
              <a:buSzPts val="2400"/>
              <a:buFont typeface="Noto Sans Symbols"/>
              <a:buNone/>
            </a:pPr>
            <a:r>
              <a:t/>
            </a:r>
            <a:endParaRPr/>
          </a:p>
        </p:txBody>
      </p:sp>
      <p:pic>
        <p:nvPicPr>
          <p:cNvPr id="164" name="Google Shape;164;p22"/>
          <p:cNvPicPr preferRelativeResize="0"/>
          <p:nvPr/>
        </p:nvPicPr>
        <p:blipFill>
          <a:blip r:embed="rId3">
            <a:alphaModFix/>
          </a:blip>
          <a:stretch>
            <a:fillRect/>
          </a:stretch>
        </p:blipFill>
        <p:spPr>
          <a:xfrm>
            <a:off x="1583025" y="2313975"/>
            <a:ext cx="5782074" cy="3655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3"/>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Table Design</a:t>
            </a:r>
            <a:endParaRPr>
              <a:latin typeface="Calibri"/>
              <a:ea typeface="Calibri"/>
              <a:cs typeface="Calibri"/>
              <a:sym typeface="Calibri"/>
            </a:endParaRPr>
          </a:p>
        </p:txBody>
      </p:sp>
      <p:sp>
        <p:nvSpPr>
          <p:cNvPr id="171" name="Google Shape;171;p23"/>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342900" lvl="0" marL="342900" rtl="0" algn="l">
              <a:lnSpc>
                <a:spcPct val="114000"/>
              </a:lnSpc>
              <a:spcBef>
                <a:spcPts val="0"/>
              </a:spcBef>
              <a:spcAft>
                <a:spcPts val="0"/>
              </a:spcAft>
              <a:buClr>
                <a:schemeClr val="dk1"/>
              </a:buClr>
              <a:buSzPts val="2400"/>
              <a:buFont typeface="Noto Sans Symbols"/>
              <a:buChar char="▪"/>
            </a:pPr>
            <a:r>
              <a:rPr lang="en-US"/>
              <a:t>ERD</a:t>
            </a:r>
            <a:endParaRPr/>
          </a:p>
          <a:p>
            <a:pPr indent="0" lvl="0" marL="342900" rtl="0" algn="l">
              <a:lnSpc>
                <a:spcPct val="114000"/>
              </a:lnSpc>
              <a:spcBef>
                <a:spcPts val="0"/>
              </a:spcBef>
              <a:spcAft>
                <a:spcPts val="0"/>
              </a:spcAft>
              <a:buNone/>
            </a:pPr>
            <a:r>
              <a:t/>
            </a:r>
            <a:endParaRPr/>
          </a:p>
        </p:txBody>
      </p:sp>
      <p:pic>
        <p:nvPicPr>
          <p:cNvPr id="172" name="Google Shape;172;p23"/>
          <p:cNvPicPr preferRelativeResize="0"/>
          <p:nvPr/>
        </p:nvPicPr>
        <p:blipFill>
          <a:blip r:embed="rId3">
            <a:alphaModFix/>
          </a:blip>
          <a:stretch>
            <a:fillRect/>
          </a:stretch>
        </p:blipFill>
        <p:spPr>
          <a:xfrm>
            <a:off x="2267225" y="1609850"/>
            <a:ext cx="4467350" cy="35953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4"/>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Process Design</a:t>
            </a:r>
            <a:endParaRPr>
              <a:latin typeface="Calibri"/>
              <a:ea typeface="Calibri"/>
              <a:cs typeface="Calibri"/>
              <a:sym typeface="Calibri"/>
            </a:endParaRPr>
          </a:p>
        </p:txBody>
      </p:sp>
      <p:sp>
        <p:nvSpPr>
          <p:cNvPr id="179" name="Google Shape;179;p24"/>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b="1" lang="en-US" sz="1400">
                <a:latin typeface="Arial"/>
                <a:ea typeface="Arial"/>
                <a:cs typeface="Arial"/>
                <a:sym typeface="Arial"/>
              </a:rPr>
              <a:t>Main Process:</a:t>
            </a:r>
            <a:endParaRPr b="1" sz="1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400">
                <a:latin typeface="Arial"/>
                <a:ea typeface="Arial"/>
                <a:cs typeface="Arial"/>
                <a:sym typeface="Arial"/>
              </a:rPr>
              <a:t>The main process of this project is </a:t>
            </a:r>
            <a:r>
              <a:rPr b="1" lang="en-US" sz="1400">
                <a:latin typeface="Arial"/>
                <a:ea typeface="Arial"/>
                <a:cs typeface="Arial"/>
                <a:sym typeface="Arial"/>
              </a:rPr>
              <a:t>automating subscription management and sending timely reminders</a:t>
            </a:r>
            <a:r>
              <a:rPr lang="en-US" sz="1400">
                <a:latin typeface="Arial"/>
                <a:ea typeface="Arial"/>
                <a:cs typeface="Arial"/>
                <a:sym typeface="Arial"/>
              </a:rPr>
              <a:t> to users about upcoming renewals to ensure no services lapse due to missed deadlines.</a:t>
            </a:r>
            <a:endParaRPr sz="1400">
              <a:latin typeface="Arial"/>
              <a:ea typeface="Arial"/>
              <a:cs typeface="Arial"/>
              <a:sym typeface="Arial"/>
            </a:endParaRPr>
          </a:p>
          <a:p>
            <a:pPr indent="0" lvl="0" marL="0" rtl="0" algn="l">
              <a:lnSpc>
                <a:spcPct val="114000"/>
              </a:lnSpc>
              <a:spcBef>
                <a:spcPts val="1200"/>
              </a:spcBef>
              <a:spcAft>
                <a:spcPts val="0"/>
              </a:spcAft>
              <a:buNone/>
            </a:pPr>
            <a:r>
              <a:rPr b="1" lang="en-US" sz="1400">
                <a:latin typeface="Arial"/>
                <a:ea typeface="Arial"/>
                <a:cs typeface="Arial"/>
                <a:sym typeface="Arial"/>
              </a:rPr>
              <a:t>Sub-Processes</a:t>
            </a:r>
            <a:r>
              <a:rPr lang="en-US" sz="1400">
                <a:latin typeface="Arial"/>
                <a:ea typeface="Arial"/>
                <a:cs typeface="Arial"/>
                <a:sym typeface="Arial"/>
              </a:rPr>
              <a:t>:</a:t>
            </a:r>
            <a:endParaRPr sz="1400">
              <a:latin typeface="Arial"/>
              <a:ea typeface="Arial"/>
              <a:cs typeface="Arial"/>
              <a:sym typeface="Arial"/>
            </a:endParaRPr>
          </a:p>
          <a:p>
            <a:pPr indent="457200" lvl="0" marL="0" rtl="0" algn="l">
              <a:lnSpc>
                <a:spcPct val="114000"/>
              </a:lnSpc>
              <a:spcBef>
                <a:spcPts val="480"/>
              </a:spcBef>
              <a:spcAft>
                <a:spcPts val="0"/>
              </a:spcAft>
              <a:buNone/>
            </a:pPr>
            <a:r>
              <a:rPr b="1" lang="en-US" sz="1400">
                <a:latin typeface="Arial"/>
                <a:ea typeface="Arial"/>
                <a:cs typeface="Arial"/>
                <a:sym typeface="Arial"/>
              </a:rPr>
              <a:t>Data Collection and Management</a:t>
            </a:r>
            <a:r>
              <a:rPr lang="en-US" sz="1400">
                <a:latin typeface="Arial"/>
                <a:ea typeface="Arial"/>
                <a:cs typeface="Arial"/>
                <a:sym typeface="Arial"/>
              </a:rPr>
              <a:t>:</a:t>
            </a:r>
            <a:endParaRPr sz="1400">
              <a:latin typeface="Arial"/>
              <a:ea typeface="Arial"/>
              <a:cs typeface="Arial"/>
              <a:sym typeface="Arial"/>
            </a:endParaRPr>
          </a:p>
          <a:p>
            <a:pPr indent="-317500" lvl="0" marL="914400" rtl="0" algn="l">
              <a:lnSpc>
                <a:spcPct val="114000"/>
              </a:lnSpc>
              <a:spcBef>
                <a:spcPts val="480"/>
              </a:spcBef>
              <a:spcAft>
                <a:spcPts val="0"/>
              </a:spcAft>
              <a:buSzPts val="1400"/>
              <a:buFont typeface="Arial"/>
              <a:buChar char="●"/>
            </a:pPr>
            <a:r>
              <a:rPr lang="en-US" sz="1400">
                <a:latin typeface="Arial"/>
                <a:ea typeface="Arial"/>
                <a:cs typeface="Arial"/>
                <a:sym typeface="Arial"/>
              </a:rPr>
              <a:t>Data is collected from the user, including subscription details like service name and renewal dates.</a:t>
            </a:r>
            <a:endParaRPr sz="1400">
              <a:latin typeface="Arial"/>
              <a:ea typeface="Arial"/>
              <a:cs typeface="Arial"/>
              <a:sym typeface="Arial"/>
            </a:endParaRPr>
          </a:p>
          <a:p>
            <a:pPr indent="-317500" lvl="0" marL="914400" rtl="0" algn="l">
              <a:lnSpc>
                <a:spcPct val="114000"/>
              </a:lnSpc>
              <a:spcBef>
                <a:spcPts val="0"/>
              </a:spcBef>
              <a:spcAft>
                <a:spcPts val="0"/>
              </a:spcAft>
              <a:buSzPts val="1400"/>
              <a:buFont typeface="Arial"/>
              <a:buChar char="●"/>
            </a:pPr>
            <a:r>
              <a:rPr lang="en-US" sz="1400">
                <a:latin typeface="Arial"/>
                <a:ea typeface="Arial"/>
                <a:cs typeface="Arial"/>
                <a:sym typeface="Arial"/>
              </a:rPr>
              <a:t>Validate the input data for accuracy.</a:t>
            </a:r>
            <a:endParaRPr sz="1400">
              <a:latin typeface="Arial"/>
              <a:ea typeface="Arial"/>
              <a:cs typeface="Arial"/>
              <a:sym typeface="Arial"/>
            </a:endParaRPr>
          </a:p>
          <a:p>
            <a:pPr indent="-317500" lvl="0" marL="914400" rtl="0" algn="l">
              <a:lnSpc>
                <a:spcPct val="114000"/>
              </a:lnSpc>
              <a:spcBef>
                <a:spcPts val="0"/>
              </a:spcBef>
              <a:spcAft>
                <a:spcPts val="0"/>
              </a:spcAft>
              <a:buSzPts val="1400"/>
              <a:buFont typeface="Arial"/>
              <a:buChar char="●"/>
            </a:pPr>
            <a:r>
              <a:rPr lang="en-US" sz="1400">
                <a:latin typeface="Arial"/>
                <a:ea typeface="Arial"/>
                <a:cs typeface="Arial"/>
                <a:sym typeface="Arial"/>
              </a:rPr>
              <a:t>Store the validated data in a database or structured format like Excel </a:t>
            </a:r>
            <a:endParaRPr sz="1400">
              <a:latin typeface="Arial"/>
              <a:ea typeface="Arial"/>
              <a:cs typeface="Arial"/>
              <a:sym typeface="Arial"/>
            </a:endParaRPr>
          </a:p>
          <a:p>
            <a:pPr indent="0" lvl="0" marL="0" rtl="0" algn="l">
              <a:lnSpc>
                <a:spcPct val="114000"/>
              </a:lnSpc>
              <a:spcBef>
                <a:spcPts val="480"/>
              </a:spcBef>
              <a:spcAft>
                <a:spcPts val="0"/>
              </a:spcAft>
              <a:buNone/>
            </a:pPr>
            <a:r>
              <a:rPr lang="en-US" sz="1400">
                <a:latin typeface="Arial"/>
                <a:ea typeface="Arial"/>
                <a:cs typeface="Arial"/>
                <a:sym typeface="Arial"/>
              </a:rPr>
              <a:t>	</a:t>
            </a:r>
            <a:r>
              <a:rPr b="1" lang="en-US" sz="1400">
                <a:latin typeface="Arial"/>
                <a:ea typeface="Arial"/>
                <a:cs typeface="Arial"/>
                <a:sym typeface="Arial"/>
              </a:rPr>
              <a:t>Date Monitoring</a:t>
            </a:r>
            <a:r>
              <a:rPr lang="en-US" sz="1400">
                <a:latin typeface="Arial"/>
                <a:ea typeface="Arial"/>
                <a:cs typeface="Arial"/>
                <a:sym typeface="Arial"/>
              </a:rPr>
              <a:t>:</a:t>
            </a:r>
            <a:endParaRPr sz="1400">
              <a:latin typeface="Arial"/>
              <a:ea typeface="Arial"/>
              <a:cs typeface="Arial"/>
              <a:sym typeface="Arial"/>
            </a:endParaRPr>
          </a:p>
          <a:p>
            <a:pPr indent="-317500" lvl="0" marL="914400" rtl="0" algn="l">
              <a:lnSpc>
                <a:spcPct val="114000"/>
              </a:lnSpc>
              <a:spcBef>
                <a:spcPts val="480"/>
              </a:spcBef>
              <a:spcAft>
                <a:spcPts val="0"/>
              </a:spcAft>
              <a:buSzPts val="1400"/>
              <a:buFont typeface="Arial"/>
              <a:buChar char="●"/>
            </a:pPr>
            <a:r>
              <a:rPr lang="en-US" sz="1400">
                <a:latin typeface="Arial"/>
                <a:ea typeface="Arial"/>
                <a:cs typeface="Arial"/>
                <a:sym typeface="Arial"/>
              </a:rPr>
              <a:t>Continuously monitor the stored subscription details.</a:t>
            </a:r>
            <a:endParaRPr sz="1400">
              <a:latin typeface="Arial"/>
              <a:ea typeface="Arial"/>
              <a:cs typeface="Arial"/>
              <a:sym typeface="Arial"/>
            </a:endParaRPr>
          </a:p>
          <a:p>
            <a:pPr indent="-317500" lvl="0" marL="914400" rtl="0" algn="l">
              <a:lnSpc>
                <a:spcPct val="114000"/>
              </a:lnSpc>
              <a:spcBef>
                <a:spcPts val="0"/>
              </a:spcBef>
              <a:spcAft>
                <a:spcPts val="0"/>
              </a:spcAft>
              <a:buSzPts val="1400"/>
              <a:buFont typeface="Arial"/>
              <a:buChar char="●"/>
            </a:pPr>
            <a:r>
              <a:rPr lang="en-US" sz="1400">
                <a:latin typeface="Arial"/>
                <a:ea typeface="Arial"/>
                <a:cs typeface="Arial"/>
                <a:sym typeface="Arial"/>
              </a:rPr>
              <a:t>Identify subscriptions with renewal dates approaching within a set threshold (e.g., 7 days before expiry)</a:t>
            </a:r>
            <a:endParaRPr sz="1400">
              <a:latin typeface="Arial"/>
              <a:ea typeface="Arial"/>
              <a:cs typeface="Arial"/>
              <a:sym typeface="Arial"/>
            </a:endParaRPr>
          </a:p>
          <a:p>
            <a:pPr indent="457200" lvl="0" marL="0" rtl="0" algn="l">
              <a:lnSpc>
                <a:spcPct val="114000"/>
              </a:lnSpc>
              <a:spcBef>
                <a:spcPts val="480"/>
              </a:spcBef>
              <a:spcAft>
                <a:spcPts val="0"/>
              </a:spcAft>
              <a:buNone/>
            </a:pPr>
            <a:r>
              <a:rPr b="1" lang="en-US" sz="1400">
                <a:latin typeface="Arial"/>
                <a:ea typeface="Arial"/>
                <a:cs typeface="Arial"/>
                <a:sym typeface="Arial"/>
              </a:rPr>
              <a:t>Reminder Notification Generation</a:t>
            </a:r>
            <a:r>
              <a:rPr lang="en-US" sz="1400">
                <a:latin typeface="Arial"/>
                <a:ea typeface="Arial"/>
                <a:cs typeface="Arial"/>
                <a:sym typeface="Arial"/>
              </a:rPr>
              <a:t>:</a:t>
            </a:r>
            <a:endParaRPr sz="1400">
              <a:latin typeface="Arial"/>
              <a:ea typeface="Arial"/>
              <a:cs typeface="Arial"/>
              <a:sym typeface="Arial"/>
            </a:endParaRPr>
          </a:p>
          <a:p>
            <a:pPr indent="-317500" lvl="0" marL="914400" rtl="0" algn="l">
              <a:lnSpc>
                <a:spcPct val="114000"/>
              </a:lnSpc>
              <a:spcBef>
                <a:spcPts val="480"/>
              </a:spcBef>
              <a:spcAft>
                <a:spcPts val="0"/>
              </a:spcAft>
              <a:buSzPts val="1400"/>
              <a:buFont typeface="Arial"/>
              <a:buChar char="●"/>
            </a:pPr>
            <a:r>
              <a:rPr lang="en-US" sz="1400">
                <a:latin typeface="Arial"/>
                <a:ea typeface="Arial"/>
                <a:cs typeface="Arial"/>
                <a:sym typeface="Arial"/>
              </a:rPr>
              <a:t>Create personalized notifications (e.g., emails or SMS) with subscription details and due dates</a:t>
            </a:r>
            <a:endParaRPr sz="1400">
              <a:latin typeface="Arial"/>
              <a:ea typeface="Arial"/>
              <a:cs typeface="Arial"/>
              <a:sym typeface="Arial"/>
            </a:endParaRPr>
          </a:p>
          <a:p>
            <a:pPr indent="-317500" lvl="0" marL="914400" rtl="0" algn="l">
              <a:lnSpc>
                <a:spcPct val="114000"/>
              </a:lnSpc>
              <a:spcBef>
                <a:spcPts val="0"/>
              </a:spcBef>
              <a:spcAft>
                <a:spcPts val="0"/>
              </a:spcAft>
              <a:buSzPts val="1400"/>
              <a:buFont typeface="Arial"/>
              <a:buChar char="●"/>
            </a:pPr>
            <a:r>
              <a:rPr lang="en-US" sz="1400">
                <a:latin typeface="Arial"/>
                <a:ea typeface="Arial"/>
                <a:cs typeface="Arial"/>
                <a:sym typeface="Arial"/>
              </a:rPr>
              <a:t>Format the message for clarity and professional tone.</a:t>
            </a:r>
            <a:endParaRPr sz="1400">
              <a:latin typeface="Arial"/>
              <a:ea typeface="Arial"/>
              <a:cs typeface="Arial"/>
              <a:sym typeface="Arial"/>
            </a:endParaRPr>
          </a:p>
          <a:p>
            <a:pPr indent="0" lvl="0" marL="0" rtl="0" algn="l">
              <a:lnSpc>
                <a:spcPct val="114000"/>
              </a:lnSpc>
              <a:spcBef>
                <a:spcPts val="480"/>
              </a:spcBef>
              <a:spcAft>
                <a:spcPts val="0"/>
              </a:spcAft>
              <a:buNone/>
            </a:pPr>
            <a:r>
              <a:rPr lang="en-US" sz="1400">
                <a:latin typeface="Arial"/>
                <a:ea typeface="Arial"/>
                <a:cs typeface="Arial"/>
                <a:sym typeface="Arial"/>
              </a:rPr>
              <a:t>	</a:t>
            </a:r>
            <a:endParaRPr sz="1400">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5"/>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Implementation</a:t>
            </a:r>
            <a:endParaRPr>
              <a:latin typeface="Calibri"/>
              <a:ea typeface="Calibri"/>
              <a:cs typeface="Calibri"/>
              <a:sym typeface="Calibri"/>
            </a:endParaRPr>
          </a:p>
        </p:txBody>
      </p:sp>
      <p:sp>
        <p:nvSpPr>
          <p:cNvPr id="186" name="Google Shape;186;p25"/>
          <p:cNvSpPr txBox="1"/>
          <p:nvPr>
            <p:ph idx="1" type="body"/>
          </p:nvPr>
        </p:nvSpPr>
        <p:spPr>
          <a:xfrm>
            <a:off x="190500" y="914400"/>
            <a:ext cx="8763000" cy="53340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50000"/>
              </a:lnSpc>
              <a:spcBef>
                <a:spcPts val="1400"/>
              </a:spcBef>
              <a:spcAft>
                <a:spcPts val="0"/>
              </a:spcAft>
              <a:buClr>
                <a:schemeClr val="dk1"/>
              </a:buClr>
              <a:buSzPts val="275"/>
              <a:buFont typeface="Arial"/>
              <a:buNone/>
            </a:pPr>
            <a:r>
              <a:rPr b="1" lang="en-US" sz="5600">
                <a:latin typeface="Arial"/>
                <a:ea typeface="Arial"/>
                <a:cs typeface="Arial"/>
                <a:sym typeface="Arial"/>
              </a:rPr>
              <a:t>Implementation of Module 1: Subscription Tracking Module</a:t>
            </a:r>
            <a:endParaRPr b="1" sz="5600">
              <a:latin typeface="Arial"/>
              <a:ea typeface="Arial"/>
              <a:cs typeface="Arial"/>
              <a:sym typeface="Arial"/>
            </a:endParaRPr>
          </a:p>
          <a:p>
            <a:pPr indent="-317500" lvl="0" marL="457200" rtl="0" algn="l">
              <a:lnSpc>
                <a:spcPct val="150000"/>
              </a:lnSpc>
              <a:spcBef>
                <a:spcPts val="1200"/>
              </a:spcBef>
              <a:spcAft>
                <a:spcPts val="0"/>
              </a:spcAft>
              <a:buSzPct val="100000"/>
              <a:buFont typeface="Arial"/>
              <a:buAutoNum type="arabicPeriod"/>
            </a:pPr>
            <a:r>
              <a:rPr b="1" lang="en-US" sz="5600">
                <a:latin typeface="Arial"/>
                <a:ea typeface="Arial"/>
                <a:cs typeface="Arial"/>
                <a:sym typeface="Arial"/>
              </a:rPr>
              <a:t>Input Handling</a:t>
            </a:r>
            <a:r>
              <a:rPr lang="en-US" sz="5600">
                <a:latin typeface="Arial"/>
                <a:ea typeface="Arial"/>
                <a:cs typeface="Arial"/>
                <a:sym typeface="Arial"/>
              </a:rPr>
              <a:t>: Develop an input interface (e.g., an Excel sheet or a form in UiPath) to collect subscription details like name, renewal date, and cost.</a:t>
            </a:r>
            <a:endParaRPr sz="5600">
              <a:latin typeface="Arial"/>
              <a:ea typeface="Arial"/>
              <a:cs typeface="Arial"/>
              <a:sym typeface="Arial"/>
            </a:endParaRPr>
          </a:p>
          <a:p>
            <a:pPr indent="-317500" lvl="0" marL="457200" rtl="0" algn="l">
              <a:lnSpc>
                <a:spcPct val="150000"/>
              </a:lnSpc>
              <a:spcBef>
                <a:spcPts val="0"/>
              </a:spcBef>
              <a:spcAft>
                <a:spcPts val="0"/>
              </a:spcAft>
              <a:buSzPct val="100000"/>
              <a:buFont typeface="Arial"/>
              <a:buAutoNum type="arabicPeriod"/>
            </a:pPr>
            <a:r>
              <a:rPr b="1" lang="en-US" sz="5600">
                <a:latin typeface="Arial"/>
                <a:ea typeface="Arial"/>
                <a:cs typeface="Arial"/>
                <a:sym typeface="Arial"/>
              </a:rPr>
              <a:t>Data Validation</a:t>
            </a:r>
            <a:r>
              <a:rPr lang="en-US" sz="5600">
                <a:latin typeface="Arial"/>
                <a:ea typeface="Arial"/>
                <a:cs typeface="Arial"/>
                <a:sym typeface="Arial"/>
              </a:rPr>
              <a:t>: Use UiPath activities like </a:t>
            </a:r>
            <a:r>
              <a:rPr i="1" lang="en-US" sz="5600">
                <a:latin typeface="Arial"/>
                <a:ea typeface="Arial"/>
                <a:cs typeface="Arial"/>
                <a:sym typeface="Arial"/>
              </a:rPr>
              <a:t>"If"</a:t>
            </a:r>
            <a:r>
              <a:rPr lang="en-US" sz="5600">
                <a:latin typeface="Arial"/>
                <a:ea typeface="Arial"/>
                <a:cs typeface="Arial"/>
                <a:sym typeface="Arial"/>
              </a:rPr>
              <a:t> and </a:t>
            </a:r>
            <a:r>
              <a:rPr i="1" lang="en-US" sz="5600">
                <a:latin typeface="Arial"/>
                <a:ea typeface="Arial"/>
                <a:cs typeface="Arial"/>
                <a:sym typeface="Arial"/>
              </a:rPr>
              <a:t>"Validate"</a:t>
            </a:r>
            <a:r>
              <a:rPr lang="en-US" sz="5600">
                <a:latin typeface="Arial"/>
                <a:ea typeface="Arial"/>
                <a:cs typeface="Arial"/>
                <a:sym typeface="Arial"/>
              </a:rPr>
              <a:t> to ensure the input data is correct and not missing critical fields.</a:t>
            </a:r>
            <a:endParaRPr sz="5600">
              <a:latin typeface="Arial"/>
              <a:ea typeface="Arial"/>
              <a:cs typeface="Arial"/>
              <a:sym typeface="Arial"/>
            </a:endParaRPr>
          </a:p>
          <a:p>
            <a:pPr indent="-317500" lvl="0" marL="457200" rtl="0" algn="l">
              <a:lnSpc>
                <a:spcPct val="150000"/>
              </a:lnSpc>
              <a:spcBef>
                <a:spcPts val="0"/>
              </a:spcBef>
              <a:spcAft>
                <a:spcPts val="0"/>
              </a:spcAft>
              <a:buSzPct val="100000"/>
              <a:buFont typeface="Arial"/>
              <a:buAutoNum type="arabicPeriod"/>
            </a:pPr>
            <a:r>
              <a:rPr b="1" lang="en-US" sz="5600">
                <a:latin typeface="Arial"/>
                <a:ea typeface="Arial"/>
                <a:cs typeface="Arial"/>
                <a:sym typeface="Arial"/>
              </a:rPr>
              <a:t>Data Storage</a:t>
            </a:r>
            <a:r>
              <a:rPr lang="en-US" sz="5600">
                <a:latin typeface="Arial"/>
                <a:ea typeface="Arial"/>
                <a:cs typeface="Arial"/>
                <a:sym typeface="Arial"/>
              </a:rPr>
              <a:t>: Store validated subscription details in a structured format such as an Excel file or database using activities like </a:t>
            </a:r>
            <a:r>
              <a:rPr i="1" lang="en-US" sz="5600">
                <a:latin typeface="Arial"/>
                <a:ea typeface="Arial"/>
                <a:cs typeface="Arial"/>
                <a:sym typeface="Arial"/>
              </a:rPr>
              <a:t>"Write Range"</a:t>
            </a:r>
            <a:r>
              <a:rPr lang="en-US" sz="5600">
                <a:latin typeface="Arial"/>
                <a:ea typeface="Arial"/>
                <a:cs typeface="Arial"/>
                <a:sym typeface="Arial"/>
              </a:rPr>
              <a:t> or database-related activities.</a:t>
            </a:r>
            <a:endParaRPr sz="5600">
              <a:latin typeface="Arial"/>
              <a:ea typeface="Arial"/>
              <a:cs typeface="Arial"/>
              <a:sym typeface="Arial"/>
            </a:endParaRPr>
          </a:p>
          <a:p>
            <a:pPr indent="0" lvl="0" marL="0" rtl="0" algn="l">
              <a:lnSpc>
                <a:spcPct val="150000"/>
              </a:lnSpc>
              <a:spcBef>
                <a:spcPts val="1400"/>
              </a:spcBef>
              <a:spcAft>
                <a:spcPts val="0"/>
              </a:spcAft>
              <a:buNone/>
            </a:pPr>
            <a:r>
              <a:rPr b="1" lang="en-US" sz="5600">
                <a:latin typeface="Arial"/>
                <a:ea typeface="Arial"/>
                <a:cs typeface="Arial"/>
                <a:sym typeface="Arial"/>
              </a:rPr>
              <a:t>Implementation of Module 2: Reminder Notification Module</a:t>
            </a:r>
            <a:endParaRPr b="1" sz="5600">
              <a:latin typeface="Arial"/>
              <a:ea typeface="Arial"/>
              <a:cs typeface="Arial"/>
              <a:sym typeface="Arial"/>
            </a:endParaRPr>
          </a:p>
          <a:p>
            <a:pPr indent="-317500" lvl="0" marL="457200" rtl="0" algn="l">
              <a:lnSpc>
                <a:spcPct val="150000"/>
              </a:lnSpc>
              <a:spcBef>
                <a:spcPts val="1200"/>
              </a:spcBef>
              <a:spcAft>
                <a:spcPts val="0"/>
              </a:spcAft>
              <a:buSzPct val="100000"/>
              <a:buFont typeface="Arial"/>
              <a:buAutoNum type="arabicPeriod"/>
            </a:pPr>
            <a:r>
              <a:rPr b="1" lang="en-US" sz="5600">
                <a:latin typeface="Arial"/>
                <a:ea typeface="Arial"/>
                <a:cs typeface="Arial"/>
                <a:sym typeface="Arial"/>
              </a:rPr>
              <a:t>Data Retrieval</a:t>
            </a:r>
            <a:r>
              <a:rPr lang="en-US" sz="5600">
                <a:latin typeface="Arial"/>
                <a:ea typeface="Arial"/>
                <a:cs typeface="Arial"/>
                <a:sym typeface="Arial"/>
              </a:rPr>
              <a:t>: Use </a:t>
            </a:r>
            <a:r>
              <a:rPr i="1" lang="en-US" sz="5600">
                <a:latin typeface="Arial"/>
                <a:ea typeface="Arial"/>
                <a:cs typeface="Arial"/>
                <a:sym typeface="Arial"/>
              </a:rPr>
              <a:t>"Read Range"</a:t>
            </a:r>
            <a:r>
              <a:rPr lang="en-US" sz="5600">
                <a:latin typeface="Arial"/>
                <a:ea typeface="Arial"/>
                <a:cs typeface="Arial"/>
                <a:sym typeface="Arial"/>
              </a:rPr>
              <a:t> or database queries to fetch subscription details from the stored data.</a:t>
            </a:r>
            <a:endParaRPr sz="5600">
              <a:latin typeface="Arial"/>
              <a:ea typeface="Arial"/>
              <a:cs typeface="Arial"/>
              <a:sym typeface="Arial"/>
            </a:endParaRPr>
          </a:p>
          <a:p>
            <a:pPr indent="-317500" lvl="0" marL="457200" rtl="0" algn="l">
              <a:lnSpc>
                <a:spcPct val="150000"/>
              </a:lnSpc>
              <a:spcBef>
                <a:spcPts val="0"/>
              </a:spcBef>
              <a:spcAft>
                <a:spcPts val="0"/>
              </a:spcAft>
              <a:buSzPct val="100000"/>
              <a:buFont typeface="Arial"/>
              <a:buAutoNum type="arabicPeriod"/>
            </a:pPr>
            <a:r>
              <a:rPr b="1" lang="en-US" sz="5600">
                <a:latin typeface="Arial"/>
                <a:ea typeface="Arial"/>
                <a:cs typeface="Arial"/>
                <a:sym typeface="Arial"/>
              </a:rPr>
              <a:t>Date Monitoring</a:t>
            </a:r>
            <a:r>
              <a:rPr lang="en-US" sz="5600">
                <a:latin typeface="Arial"/>
                <a:ea typeface="Arial"/>
                <a:cs typeface="Arial"/>
                <a:sym typeface="Arial"/>
              </a:rPr>
              <a:t>: Use a </a:t>
            </a:r>
            <a:r>
              <a:rPr i="1" lang="en-US" sz="5600">
                <a:latin typeface="Arial"/>
                <a:ea typeface="Arial"/>
                <a:cs typeface="Arial"/>
                <a:sym typeface="Arial"/>
              </a:rPr>
              <a:t>For Each</a:t>
            </a:r>
            <a:r>
              <a:rPr lang="en-US" sz="5600">
                <a:latin typeface="Arial"/>
                <a:ea typeface="Arial"/>
                <a:cs typeface="Arial"/>
                <a:sym typeface="Arial"/>
              </a:rPr>
              <a:t> loop to iterate through the data and compare renewal dates with the current date using </a:t>
            </a:r>
            <a:r>
              <a:rPr i="1" lang="en-US" sz="5600">
                <a:latin typeface="Arial"/>
                <a:ea typeface="Arial"/>
                <a:cs typeface="Arial"/>
                <a:sym typeface="Arial"/>
              </a:rPr>
              <a:t>"If"</a:t>
            </a:r>
            <a:r>
              <a:rPr lang="en-US" sz="5600">
                <a:latin typeface="Arial"/>
                <a:ea typeface="Arial"/>
                <a:cs typeface="Arial"/>
                <a:sym typeface="Arial"/>
              </a:rPr>
              <a:t> activities.</a:t>
            </a:r>
            <a:endParaRPr sz="5600">
              <a:latin typeface="Arial"/>
              <a:ea typeface="Arial"/>
              <a:cs typeface="Arial"/>
              <a:sym typeface="Arial"/>
            </a:endParaRPr>
          </a:p>
          <a:p>
            <a:pPr indent="-317500" lvl="0" marL="457200" rtl="0" algn="l">
              <a:lnSpc>
                <a:spcPct val="150000"/>
              </a:lnSpc>
              <a:spcBef>
                <a:spcPts val="0"/>
              </a:spcBef>
              <a:spcAft>
                <a:spcPts val="0"/>
              </a:spcAft>
              <a:buSzPct val="100000"/>
              <a:buFont typeface="Arial"/>
              <a:buAutoNum type="arabicPeriod"/>
            </a:pPr>
            <a:r>
              <a:rPr b="1" lang="en-US" sz="5600">
                <a:latin typeface="Arial"/>
                <a:ea typeface="Arial"/>
                <a:cs typeface="Arial"/>
                <a:sym typeface="Arial"/>
              </a:rPr>
              <a:t>Notification Creation</a:t>
            </a:r>
            <a:r>
              <a:rPr lang="en-US" sz="5600">
                <a:latin typeface="Arial"/>
                <a:ea typeface="Arial"/>
                <a:cs typeface="Arial"/>
                <a:sym typeface="Arial"/>
              </a:rPr>
              <a:t>: Generate reminder messages dynamically by merging template text with subscription details using </a:t>
            </a:r>
            <a:r>
              <a:rPr i="1" lang="en-US" sz="5600">
                <a:latin typeface="Arial"/>
                <a:ea typeface="Arial"/>
                <a:cs typeface="Arial"/>
                <a:sym typeface="Arial"/>
              </a:rPr>
              <a:t>"Assign"</a:t>
            </a:r>
            <a:r>
              <a:rPr lang="en-US" sz="5600">
                <a:latin typeface="Arial"/>
                <a:ea typeface="Arial"/>
                <a:cs typeface="Arial"/>
                <a:sym typeface="Arial"/>
              </a:rPr>
              <a:t> and </a:t>
            </a:r>
            <a:r>
              <a:rPr i="1" lang="en-US" sz="5600">
                <a:latin typeface="Arial"/>
                <a:ea typeface="Arial"/>
                <a:cs typeface="Arial"/>
                <a:sym typeface="Arial"/>
              </a:rPr>
              <a:t>"String.Format"</a:t>
            </a:r>
            <a:r>
              <a:rPr lang="en-US" sz="5600">
                <a:latin typeface="Arial"/>
                <a:ea typeface="Arial"/>
                <a:cs typeface="Arial"/>
                <a:sym typeface="Arial"/>
              </a:rPr>
              <a:t>.</a:t>
            </a:r>
            <a:endParaRPr sz="5600">
              <a:latin typeface="Arial"/>
              <a:ea typeface="Arial"/>
              <a:cs typeface="Arial"/>
              <a:sym typeface="Arial"/>
            </a:endParaRPr>
          </a:p>
          <a:p>
            <a:pPr indent="-317500" lvl="0" marL="457200" rtl="0" algn="l">
              <a:lnSpc>
                <a:spcPct val="150000"/>
              </a:lnSpc>
              <a:spcBef>
                <a:spcPts val="0"/>
              </a:spcBef>
              <a:spcAft>
                <a:spcPts val="0"/>
              </a:spcAft>
              <a:buSzPct val="100000"/>
              <a:buFont typeface="Arial"/>
              <a:buAutoNum type="arabicPeriod"/>
            </a:pPr>
            <a:r>
              <a:rPr b="1" lang="en-US" sz="5600">
                <a:latin typeface="Arial"/>
                <a:ea typeface="Arial"/>
                <a:cs typeface="Arial"/>
                <a:sym typeface="Arial"/>
              </a:rPr>
              <a:t>Notification Dispatch</a:t>
            </a:r>
            <a:r>
              <a:rPr lang="en-US" sz="5600">
                <a:latin typeface="Arial"/>
                <a:ea typeface="Arial"/>
                <a:cs typeface="Arial"/>
                <a:sym typeface="Arial"/>
              </a:rPr>
              <a:t>: Send notifications via email using </a:t>
            </a:r>
            <a:r>
              <a:rPr i="1" lang="en-US" sz="5600">
                <a:latin typeface="Arial"/>
                <a:ea typeface="Arial"/>
                <a:cs typeface="Arial"/>
                <a:sym typeface="Arial"/>
              </a:rPr>
              <a:t>"Send SMTP Mail Message"</a:t>
            </a:r>
            <a:r>
              <a:rPr lang="en-US" sz="5600">
                <a:latin typeface="Arial"/>
                <a:ea typeface="Arial"/>
                <a:cs typeface="Arial"/>
                <a:sym typeface="Arial"/>
              </a:rPr>
              <a:t> or similar activities. Configure the email server with proper credentials and settings.</a:t>
            </a:r>
            <a:endParaRPr sz="5600">
              <a:latin typeface="Arial"/>
              <a:ea typeface="Arial"/>
              <a:cs typeface="Arial"/>
              <a:sym typeface="Arial"/>
            </a:endParaRPr>
          </a:p>
          <a:p>
            <a:pPr indent="0" lvl="0" marL="457200" rtl="0" algn="l">
              <a:lnSpc>
                <a:spcPct val="115000"/>
              </a:lnSpc>
              <a:spcBef>
                <a:spcPts val="1200"/>
              </a:spcBef>
              <a:spcAft>
                <a:spcPts val="0"/>
              </a:spcAft>
              <a:buNone/>
            </a:pPr>
            <a:r>
              <a:t/>
            </a:r>
            <a:endParaRPr sz="1800">
              <a:latin typeface="Arial"/>
              <a:ea typeface="Arial"/>
              <a:cs typeface="Arial"/>
              <a:sym typeface="Arial"/>
            </a:endParaRPr>
          </a:p>
          <a:p>
            <a:pPr indent="0" lvl="0" marL="0" rtl="0" algn="l">
              <a:lnSpc>
                <a:spcPct val="115000"/>
              </a:lnSpc>
              <a:spcBef>
                <a:spcPts val="1200"/>
              </a:spcBef>
              <a:spcAft>
                <a:spcPts val="0"/>
              </a:spcAft>
              <a:buNone/>
            </a:pPr>
            <a:r>
              <a:t/>
            </a:r>
            <a:endParaRPr b="1" sz="1100">
              <a:latin typeface="Arial"/>
              <a:ea typeface="Arial"/>
              <a:cs typeface="Arial"/>
              <a:sym typeface="Arial"/>
            </a:endParaRPr>
          </a:p>
          <a:p>
            <a:pPr indent="0" lvl="0" marL="152400" rtl="0" algn="l">
              <a:lnSpc>
                <a:spcPct val="114000"/>
              </a:lnSpc>
              <a:spcBef>
                <a:spcPts val="1200"/>
              </a:spcBef>
              <a:spcAft>
                <a:spcPts val="0"/>
              </a:spcAft>
              <a:buClr>
                <a:schemeClr val="dk1"/>
              </a:buClr>
              <a:buSzPct val="100000"/>
              <a:buFont typeface="Noto Sans Symbols"/>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6"/>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Testing</a:t>
            </a:r>
            <a:endParaRPr>
              <a:latin typeface="Calibri"/>
              <a:ea typeface="Calibri"/>
              <a:cs typeface="Calibri"/>
              <a:sym typeface="Calibri"/>
            </a:endParaRPr>
          </a:p>
        </p:txBody>
      </p:sp>
      <p:sp>
        <p:nvSpPr>
          <p:cNvPr id="193" name="Google Shape;193;p26"/>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fontScale="77500" lnSpcReduction="10000"/>
          </a:bodyPr>
          <a:lstStyle/>
          <a:p>
            <a:pPr indent="0" lvl="0" marL="0" rtl="0" algn="l">
              <a:lnSpc>
                <a:spcPct val="150000"/>
              </a:lnSpc>
              <a:spcBef>
                <a:spcPts val="1200"/>
              </a:spcBef>
              <a:spcAft>
                <a:spcPts val="0"/>
              </a:spcAft>
              <a:buClr>
                <a:schemeClr val="dk1"/>
              </a:buClr>
              <a:buSzPct val="61387"/>
              <a:buFont typeface="Arial"/>
              <a:buNone/>
            </a:pPr>
            <a:r>
              <a:rPr lang="en-US" sz="1791">
                <a:latin typeface="Arial"/>
                <a:ea typeface="Arial"/>
                <a:cs typeface="Arial"/>
                <a:sym typeface="Arial"/>
              </a:rPr>
              <a:t>Testing is a crucial step to ensure that both modules—</a:t>
            </a:r>
            <a:r>
              <a:rPr b="1" lang="en-US" sz="1791">
                <a:latin typeface="Arial"/>
                <a:ea typeface="Arial"/>
                <a:cs typeface="Arial"/>
                <a:sym typeface="Arial"/>
              </a:rPr>
              <a:t>Subscription Tracking</a:t>
            </a:r>
            <a:r>
              <a:rPr lang="en-US" sz="1791">
                <a:latin typeface="Arial"/>
                <a:ea typeface="Arial"/>
                <a:cs typeface="Arial"/>
                <a:sym typeface="Arial"/>
              </a:rPr>
              <a:t> and </a:t>
            </a:r>
            <a:r>
              <a:rPr b="1" lang="en-US" sz="1791">
                <a:latin typeface="Arial"/>
                <a:ea typeface="Arial"/>
                <a:cs typeface="Arial"/>
                <a:sym typeface="Arial"/>
              </a:rPr>
              <a:t>Reminder Notification</a:t>
            </a:r>
            <a:r>
              <a:rPr lang="en-US" sz="1791">
                <a:latin typeface="Arial"/>
                <a:ea typeface="Arial"/>
                <a:cs typeface="Arial"/>
                <a:sym typeface="Arial"/>
              </a:rPr>
              <a:t>—work as expected and provide accurate results. Here are some key testing strategies:</a:t>
            </a:r>
            <a:endParaRPr sz="1791">
              <a:latin typeface="Arial"/>
              <a:ea typeface="Arial"/>
              <a:cs typeface="Arial"/>
              <a:sym typeface="Arial"/>
            </a:endParaRPr>
          </a:p>
          <a:p>
            <a:pPr indent="-316783" lvl="0" marL="457200" rtl="0" algn="l">
              <a:lnSpc>
                <a:spcPct val="150000"/>
              </a:lnSpc>
              <a:spcBef>
                <a:spcPts val="1200"/>
              </a:spcBef>
              <a:spcAft>
                <a:spcPts val="0"/>
              </a:spcAft>
              <a:buSzPct val="100000"/>
              <a:buFont typeface="Arial"/>
              <a:buAutoNum type="arabicPeriod"/>
            </a:pPr>
            <a:r>
              <a:rPr b="1" lang="en-US" sz="1791">
                <a:latin typeface="Arial"/>
                <a:ea typeface="Arial"/>
                <a:cs typeface="Arial"/>
                <a:sym typeface="Arial"/>
              </a:rPr>
              <a:t>Unit Testing</a:t>
            </a:r>
            <a:r>
              <a:rPr lang="en-US" sz="1791">
                <a:latin typeface="Arial"/>
                <a:ea typeface="Arial"/>
                <a:cs typeface="Arial"/>
                <a:sym typeface="Arial"/>
              </a:rPr>
              <a:t>:</a:t>
            </a:r>
            <a:endParaRPr sz="1791">
              <a:latin typeface="Arial"/>
              <a:ea typeface="Arial"/>
              <a:cs typeface="Arial"/>
              <a:sym typeface="Arial"/>
            </a:endParaRPr>
          </a:p>
          <a:p>
            <a:pPr indent="-316783" lvl="1" marL="914400" rtl="0" algn="l">
              <a:lnSpc>
                <a:spcPct val="150000"/>
              </a:lnSpc>
              <a:spcBef>
                <a:spcPts val="0"/>
              </a:spcBef>
              <a:spcAft>
                <a:spcPts val="0"/>
              </a:spcAft>
              <a:buSzPct val="100000"/>
              <a:buChar char="○"/>
            </a:pPr>
            <a:r>
              <a:rPr lang="en-US" sz="1791">
                <a:latin typeface="Arial"/>
                <a:ea typeface="Arial"/>
                <a:cs typeface="Arial"/>
                <a:sym typeface="Arial"/>
              </a:rPr>
              <a:t>Test individual components of both modules (e.g., data validation, input handling, email dispatch) to ensure they perform their functions correctly.</a:t>
            </a:r>
            <a:endParaRPr sz="1791">
              <a:latin typeface="Arial"/>
              <a:ea typeface="Arial"/>
              <a:cs typeface="Arial"/>
              <a:sym typeface="Arial"/>
            </a:endParaRPr>
          </a:p>
          <a:p>
            <a:pPr indent="-316783" lvl="1" marL="914400" rtl="0" algn="l">
              <a:lnSpc>
                <a:spcPct val="150000"/>
              </a:lnSpc>
              <a:spcBef>
                <a:spcPts val="0"/>
              </a:spcBef>
              <a:spcAft>
                <a:spcPts val="0"/>
              </a:spcAft>
              <a:buSzPct val="100000"/>
              <a:buChar char="○"/>
            </a:pPr>
            <a:r>
              <a:rPr lang="en-US" sz="1791">
                <a:latin typeface="Arial"/>
                <a:ea typeface="Arial"/>
                <a:cs typeface="Arial"/>
                <a:sym typeface="Arial"/>
              </a:rPr>
              <a:t>For the Subscription Tracking Module, ensure that the data is being stored accurately in the database or Excel sheet. Test validation rules to ensure the system only accepts correct inputs.</a:t>
            </a:r>
            <a:endParaRPr sz="1791">
              <a:latin typeface="Arial"/>
              <a:ea typeface="Arial"/>
              <a:cs typeface="Arial"/>
              <a:sym typeface="Arial"/>
            </a:endParaRPr>
          </a:p>
          <a:p>
            <a:pPr indent="-316783" lvl="1" marL="914400" rtl="0" algn="l">
              <a:lnSpc>
                <a:spcPct val="150000"/>
              </a:lnSpc>
              <a:spcBef>
                <a:spcPts val="0"/>
              </a:spcBef>
              <a:spcAft>
                <a:spcPts val="0"/>
              </a:spcAft>
              <a:buSzPct val="100000"/>
              <a:buChar char="○"/>
            </a:pPr>
            <a:r>
              <a:rPr lang="en-US" sz="1791">
                <a:latin typeface="Arial"/>
                <a:ea typeface="Arial"/>
                <a:cs typeface="Arial"/>
                <a:sym typeface="Arial"/>
              </a:rPr>
              <a:t>For the Reminder Notification Module, verify that the system correctly identifies subscriptions nearing their renewal date and generates reminders as intended.</a:t>
            </a:r>
            <a:endParaRPr sz="1791">
              <a:latin typeface="Arial"/>
              <a:ea typeface="Arial"/>
              <a:cs typeface="Arial"/>
              <a:sym typeface="Arial"/>
            </a:endParaRPr>
          </a:p>
          <a:p>
            <a:pPr indent="-316783" lvl="0" marL="457200" rtl="0" algn="l">
              <a:lnSpc>
                <a:spcPct val="150000"/>
              </a:lnSpc>
              <a:spcBef>
                <a:spcPts val="0"/>
              </a:spcBef>
              <a:spcAft>
                <a:spcPts val="0"/>
              </a:spcAft>
              <a:buSzPct val="100000"/>
              <a:buFont typeface="Arial"/>
              <a:buAutoNum type="arabicPeriod"/>
            </a:pPr>
            <a:r>
              <a:rPr b="1" lang="en-US" sz="1791">
                <a:latin typeface="Arial"/>
                <a:ea typeface="Arial"/>
                <a:cs typeface="Arial"/>
                <a:sym typeface="Arial"/>
              </a:rPr>
              <a:t>Integration Testing</a:t>
            </a:r>
            <a:r>
              <a:rPr lang="en-US" sz="1791">
                <a:latin typeface="Arial"/>
                <a:ea typeface="Arial"/>
                <a:cs typeface="Arial"/>
                <a:sym typeface="Arial"/>
              </a:rPr>
              <a:t>:</a:t>
            </a:r>
            <a:endParaRPr sz="1791">
              <a:latin typeface="Arial"/>
              <a:ea typeface="Arial"/>
              <a:cs typeface="Arial"/>
              <a:sym typeface="Arial"/>
            </a:endParaRPr>
          </a:p>
          <a:p>
            <a:pPr indent="-316783" lvl="1" marL="914400" rtl="0" algn="l">
              <a:lnSpc>
                <a:spcPct val="150000"/>
              </a:lnSpc>
              <a:spcBef>
                <a:spcPts val="0"/>
              </a:spcBef>
              <a:spcAft>
                <a:spcPts val="0"/>
              </a:spcAft>
              <a:buSzPct val="100000"/>
              <a:buChar char="○"/>
            </a:pPr>
            <a:r>
              <a:rPr lang="en-US" sz="1791">
                <a:latin typeface="Arial"/>
                <a:ea typeface="Arial"/>
                <a:cs typeface="Arial"/>
                <a:sym typeface="Arial"/>
              </a:rPr>
              <a:t>Test how well both modules interact. For example, ensure that subscription data entered in the tracking module can be accurately retrieved and processed by the notification module.</a:t>
            </a:r>
            <a:endParaRPr sz="1791">
              <a:latin typeface="Arial"/>
              <a:ea typeface="Arial"/>
              <a:cs typeface="Arial"/>
              <a:sym typeface="Arial"/>
            </a:endParaRPr>
          </a:p>
          <a:p>
            <a:pPr indent="-316783" lvl="1" marL="914400" rtl="0" algn="l">
              <a:lnSpc>
                <a:spcPct val="150000"/>
              </a:lnSpc>
              <a:spcBef>
                <a:spcPts val="0"/>
              </a:spcBef>
              <a:spcAft>
                <a:spcPts val="0"/>
              </a:spcAft>
              <a:buSzPct val="100000"/>
              <a:buChar char="○"/>
            </a:pPr>
            <a:r>
              <a:rPr lang="en-US" sz="1791">
                <a:latin typeface="Arial"/>
                <a:ea typeface="Arial"/>
                <a:cs typeface="Arial"/>
                <a:sym typeface="Arial"/>
              </a:rPr>
              <a:t>Verify the email dispatch functionality, ensuring that reminders are sent to the correct email addresses and include the correct subscription details.</a:t>
            </a:r>
            <a:endParaRPr sz="1791">
              <a:latin typeface="Arial"/>
              <a:ea typeface="Arial"/>
              <a:cs typeface="Arial"/>
              <a:sym typeface="Arial"/>
            </a:endParaRPr>
          </a:p>
          <a:p>
            <a:pPr indent="0" lvl="0" marL="342900" rtl="0" algn="l">
              <a:lnSpc>
                <a:spcPct val="114000"/>
              </a:lnSpc>
              <a:spcBef>
                <a:spcPts val="1200"/>
              </a:spcBef>
              <a:spcAft>
                <a:spcPts val="0"/>
              </a:spcAft>
              <a:buNone/>
            </a:pPr>
            <a:r>
              <a:t/>
            </a:r>
            <a:endParaRPr/>
          </a:p>
          <a:p>
            <a:pPr indent="-190500" lvl="0" marL="342900" rtl="0" algn="l">
              <a:lnSpc>
                <a:spcPct val="114000"/>
              </a:lnSpc>
              <a:spcBef>
                <a:spcPts val="480"/>
              </a:spcBef>
              <a:spcAft>
                <a:spcPts val="0"/>
              </a:spcAft>
              <a:buClr>
                <a:schemeClr val="dk1"/>
              </a:buClr>
              <a:buSzPct val="100000"/>
              <a:buFont typeface="Noto Sans Symbols"/>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7"/>
          <p:cNvSpPr txBox="1"/>
          <p:nvPr>
            <p:ph type="title"/>
          </p:nvPr>
        </p:nvSpPr>
        <p:spPr>
          <a:xfrm>
            <a:off x="190500" y="106363"/>
            <a:ext cx="8763000" cy="8079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Screenshots</a:t>
            </a:r>
            <a:endParaRPr>
              <a:latin typeface="Calibri"/>
              <a:ea typeface="Calibri"/>
              <a:cs typeface="Calibri"/>
              <a:sym typeface="Calibri"/>
            </a:endParaRPr>
          </a:p>
        </p:txBody>
      </p:sp>
      <p:sp>
        <p:nvSpPr>
          <p:cNvPr id="200" name="Google Shape;200;p27"/>
          <p:cNvSpPr txBox="1"/>
          <p:nvPr>
            <p:ph idx="1" type="body"/>
          </p:nvPr>
        </p:nvSpPr>
        <p:spPr>
          <a:xfrm>
            <a:off x="190500" y="914400"/>
            <a:ext cx="8763000" cy="5334000"/>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1400"/>
              </a:spcBef>
              <a:spcAft>
                <a:spcPts val="0"/>
              </a:spcAft>
              <a:buClr>
                <a:schemeClr val="dk1"/>
              </a:buClr>
              <a:buSzPts val="1100"/>
              <a:buFont typeface="Arial"/>
              <a:buNone/>
            </a:pPr>
            <a:r>
              <a:t/>
            </a:r>
            <a:endParaRPr sz="1400">
              <a:latin typeface="Arial"/>
              <a:ea typeface="Arial"/>
              <a:cs typeface="Arial"/>
              <a:sym typeface="Arial"/>
            </a:endParaRPr>
          </a:p>
          <a:p>
            <a:pPr indent="0" lvl="0" marL="457200" rtl="0" algn="l">
              <a:lnSpc>
                <a:spcPct val="115000"/>
              </a:lnSpc>
              <a:spcBef>
                <a:spcPts val="1200"/>
              </a:spcBef>
              <a:spcAft>
                <a:spcPts val="0"/>
              </a:spcAft>
              <a:buNone/>
            </a:pPr>
            <a:r>
              <a:t/>
            </a:r>
            <a:endParaRPr sz="1800">
              <a:latin typeface="Arial"/>
              <a:ea typeface="Arial"/>
              <a:cs typeface="Arial"/>
              <a:sym typeface="Arial"/>
            </a:endParaRPr>
          </a:p>
          <a:p>
            <a:pPr indent="0" lvl="0" marL="0" rtl="0" algn="l">
              <a:lnSpc>
                <a:spcPct val="115000"/>
              </a:lnSpc>
              <a:spcBef>
                <a:spcPts val="1200"/>
              </a:spcBef>
              <a:spcAft>
                <a:spcPts val="0"/>
              </a:spcAft>
              <a:buNone/>
            </a:pPr>
            <a:r>
              <a:t/>
            </a:r>
            <a:endParaRPr b="1" sz="1100">
              <a:latin typeface="Arial"/>
              <a:ea typeface="Arial"/>
              <a:cs typeface="Arial"/>
              <a:sym typeface="Arial"/>
            </a:endParaRPr>
          </a:p>
          <a:p>
            <a:pPr indent="0" lvl="0" marL="152400" rtl="0" algn="l">
              <a:lnSpc>
                <a:spcPct val="114000"/>
              </a:lnSpc>
              <a:spcBef>
                <a:spcPts val="1200"/>
              </a:spcBef>
              <a:spcAft>
                <a:spcPts val="0"/>
              </a:spcAft>
              <a:buClr>
                <a:schemeClr val="dk1"/>
              </a:buClr>
              <a:buSzPts val="2400"/>
              <a:buFont typeface="Noto Sans Symbols"/>
              <a:buNone/>
            </a:pPr>
            <a:r>
              <a:t/>
            </a:r>
            <a:endParaRPr/>
          </a:p>
        </p:txBody>
      </p:sp>
      <p:pic>
        <p:nvPicPr>
          <p:cNvPr id="201" name="Google Shape;201;p27"/>
          <p:cNvPicPr preferRelativeResize="0"/>
          <p:nvPr/>
        </p:nvPicPr>
        <p:blipFill>
          <a:blip r:embed="rId3">
            <a:alphaModFix/>
          </a:blip>
          <a:stretch>
            <a:fillRect/>
          </a:stretch>
        </p:blipFill>
        <p:spPr>
          <a:xfrm>
            <a:off x="568350" y="1495850"/>
            <a:ext cx="7693424" cy="37496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8"/>
          <p:cNvSpPr txBox="1"/>
          <p:nvPr>
            <p:ph type="title"/>
          </p:nvPr>
        </p:nvSpPr>
        <p:spPr>
          <a:xfrm>
            <a:off x="190500" y="106363"/>
            <a:ext cx="8763000" cy="8079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Screenshots</a:t>
            </a:r>
            <a:endParaRPr>
              <a:latin typeface="Calibri"/>
              <a:ea typeface="Calibri"/>
              <a:cs typeface="Calibri"/>
              <a:sym typeface="Calibri"/>
            </a:endParaRPr>
          </a:p>
        </p:txBody>
      </p:sp>
      <p:sp>
        <p:nvSpPr>
          <p:cNvPr id="208" name="Google Shape;208;p28"/>
          <p:cNvSpPr txBox="1"/>
          <p:nvPr>
            <p:ph idx="1" type="body"/>
          </p:nvPr>
        </p:nvSpPr>
        <p:spPr>
          <a:xfrm>
            <a:off x="190500" y="914400"/>
            <a:ext cx="8763000" cy="5334000"/>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1400"/>
              </a:spcBef>
              <a:spcAft>
                <a:spcPts val="0"/>
              </a:spcAft>
              <a:buClr>
                <a:schemeClr val="dk1"/>
              </a:buClr>
              <a:buSzPts val="1100"/>
              <a:buFont typeface="Arial"/>
              <a:buNone/>
            </a:pPr>
            <a:r>
              <a:t/>
            </a:r>
            <a:endParaRPr sz="1400">
              <a:latin typeface="Arial"/>
              <a:ea typeface="Arial"/>
              <a:cs typeface="Arial"/>
              <a:sym typeface="Arial"/>
            </a:endParaRPr>
          </a:p>
          <a:p>
            <a:pPr indent="0" lvl="0" marL="457200" rtl="0" algn="l">
              <a:lnSpc>
                <a:spcPct val="115000"/>
              </a:lnSpc>
              <a:spcBef>
                <a:spcPts val="1200"/>
              </a:spcBef>
              <a:spcAft>
                <a:spcPts val="0"/>
              </a:spcAft>
              <a:buNone/>
            </a:pPr>
            <a:r>
              <a:t/>
            </a:r>
            <a:endParaRPr sz="1800">
              <a:latin typeface="Arial"/>
              <a:ea typeface="Arial"/>
              <a:cs typeface="Arial"/>
              <a:sym typeface="Arial"/>
            </a:endParaRPr>
          </a:p>
          <a:p>
            <a:pPr indent="0" lvl="0" marL="0" rtl="0" algn="l">
              <a:lnSpc>
                <a:spcPct val="115000"/>
              </a:lnSpc>
              <a:spcBef>
                <a:spcPts val="1200"/>
              </a:spcBef>
              <a:spcAft>
                <a:spcPts val="0"/>
              </a:spcAft>
              <a:buNone/>
            </a:pPr>
            <a:r>
              <a:t/>
            </a:r>
            <a:endParaRPr b="1" sz="1100">
              <a:latin typeface="Arial"/>
              <a:ea typeface="Arial"/>
              <a:cs typeface="Arial"/>
              <a:sym typeface="Arial"/>
            </a:endParaRPr>
          </a:p>
          <a:p>
            <a:pPr indent="0" lvl="0" marL="152400" rtl="0" algn="l">
              <a:lnSpc>
                <a:spcPct val="114000"/>
              </a:lnSpc>
              <a:spcBef>
                <a:spcPts val="1200"/>
              </a:spcBef>
              <a:spcAft>
                <a:spcPts val="0"/>
              </a:spcAft>
              <a:buClr>
                <a:schemeClr val="dk1"/>
              </a:buClr>
              <a:buSzPts val="2400"/>
              <a:buFont typeface="Noto Sans Symbols"/>
              <a:buNone/>
            </a:pPr>
            <a:r>
              <a:t/>
            </a:r>
            <a:endParaRPr/>
          </a:p>
        </p:txBody>
      </p:sp>
      <p:pic>
        <p:nvPicPr>
          <p:cNvPr id="209" name="Google Shape;209;p28"/>
          <p:cNvPicPr preferRelativeResize="0"/>
          <p:nvPr/>
        </p:nvPicPr>
        <p:blipFill>
          <a:blip r:embed="rId3">
            <a:alphaModFix/>
          </a:blip>
          <a:stretch>
            <a:fillRect/>
          </a:stretch>
        </p:blipFill>
        <p:spPr>
          <a:xfrm>
            <a:off x="497625" y="1528175"/>
            <a:ext cx="8148751" cy="3985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9"/>
          <p:cNvSpPr txBox="1"/>
          <p:nvPr>
            <p:ph type="title"/>
          </p:nvPr>
        </p:nvSpPr>
        <p:spPr>
          <a:xfrm>
            <a:off x="190500" y="106363"/>
            <a:ext cx="8763000" cy="8079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Workflow Screenshot</a:t>
            </a:r>
            <a:endParaRPr>
              <a:latin typeface="Calibri"/>
              <a:ea typeface="Calibri"/>
              <a:cs typeface="Calibri"/>
              <a:sym typeface="Calibri"/>
            </a:endParaRPr>
          </a:p>
        </p:txBody>
      </p:sp>
      <p:sp>
        <p:nvSpPr>
          <p:cNvPr id="216" name="Google Shape;216;p29"/>
          <p:cNvSpPr txBox="1"/>
          <p:nvPr>
            <p:ph idx="1" type="body"/>
          </p:nvPr>
        </p:nvSpPr>
        <p:spPr>
          <a:xfrm>
            <a:off x="190500" y="914400"/>
            <a:ext cx="8763000" cy="5334000"/>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1400"/>
              </a:spcBef>
              <a:spcAft>
                <a:spcPts val="0"/>
              </a:spcAft>
              <a:buClr>
                <a:schemeClr val="dk1"/>
              </a:buClr>
              <a:buSzPts val="1100"/>
              <a:buFont typeface="Arial"/>
              <a:buNone/>
            </a:pPr>
            <a:r>
              <a:t/>
            </a:r>
            <a:endParaRPr sz="1400">
              <a:latin typeface="Arial"/>
              <a:ea typeface="Arial"/>
              <a:cs typeface="Arial"/>
              <a:sym typeface="Arial"/>
            </a:endParaRPr>
          </a:p>
          <a:p>
            <a:pPr indent="0" lvl="0" marL="457200" rtl="0" algn="l">
              <a:lnSpc>
                <a:spcPct val="115000"/>
              </a:lnSpc>
              <a:spcBef>
                <a:spcPts val="1200"/>
              </a:spcBef>
              <a:spcAft>
                <a:spcPts val="0"/>
              </a:spcAft>
              <a:buNone/>
            </a:pPr>
            <a:r>
              <a:t/>
            </a:r>
            <a:endParaRPr sz="1800">
              <a:latin typeface="Arial"/>
              <a:ea typeface="Arial"/>
              <a:cs typeface="Arial"/>
              <a:sym typeface="Arial"/>
            </a:endParaRPr>
          </a:p>
          <a:p>
            <a:pPr indent="0" lvl="0" marL="0" rtl="0" algn="l">
              <a:lnSpc>
                <a:spcPct val="115000"/>
              </a:lnSpc>
              <a:spcBef>
                <a:spcPts val="1200"/>
              </a:spcBef>
              <a:spcAft>
                <a:spcPts val="0"/>
              </a:spcAft>
              <a:buNone/>
            </a:pPr>
            <a:r>
              <a:t/>
            </a:r>
            <a:endParaRPr b="1" sz="1100">
              <a:latin typeface="Arial"/>
              <a:ea typeface="Arial"/>
              <a:cs typeface="Arial"/>
              <a:sym typeface="Arial"/>
            </a:endParaRPr>
          </a:p>
          <a:p>
            <a:pPr indent="0" lvl="0" marL="152400" rtl="0" algn="l">
              <a:lnSpc>
                <a:spcPct val="114000"/>
              </a:lnSpc>
              <a:spcBef>
                <a:spcPts val="1200"/>
              </a:spcBef>
              <a:spcAft>
                <a:spcPts val="0"/>
              </a:spcAft>
              <a:buClr>
                <a:schemeClr val="dk1"/>
              </a:buClr>
              <a:buSzPts val="2400"/>
              <a:buFont typeface="Noto Sans Symbols"/>
              <a:buNone/>
            </a:pPr>
            <a:r>
              <a:t/>
            </a:r>
            <a:endParaRPr/>
          </a:p>
        </p:txBody>
      </p:sp>
      <p:pic>
        <p:nvPicPr>
          <p:cNvPr id="217" name="Google Shape;217;p29"/>
          <p:cNvPicPr preferRelativeResize="0"/>
          <p:nvPr/>
        </p:nvPicPr>
        <p:blipFill>
          <a:blip r:embed="rId3">
            <a:alphaModFix/>
          </a:blip>
          <a:stretch>
            <a:fillRect/>
          </a:stretch>
        </p:blipFill>
        <p:spPr>
          <a:xfrm>
            <a:off x="1297100" y="1257400"/>
            <a:ext cx="5933849" cy="4648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0"/>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Conclusions</a:t>
            </a:r>
            <a:endParaRPr>
              <a:latin typeface="Calibri"/>
              <a:ea typeface="Calibri"/>
              <a:cs typeface="Calibri"/>
              <a:sym typeface="Calibri"/>
            </a:endParaRPr>
          </a:p>
        </p:txBody>
      </p:sp>
      <p:sp>
        <p:nvSpPr>
          <p:cNvPr id="224" name="Google Shape;224;p30"/>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lnSpcReduction="10000"/>
          </a:bodyPr>
          <a:lstStyle/>
          <a:p>
            <a:pPr indent="0" lvl="0" marL="342900" rtl="0" algn="l">
              <a:lnSpc>
                <a:spcPct val="114000"/>
              </a:lnSpc>
              <a:spcBef>
                <a:spcPts val="0"/>
              </a:spcBef>
              <a:spcAft>
                <a:spcPts val="0"/>
              </a:spcAft>
              <a:buNone/>
            </a:pPr>
            <a:r>
              <a:rPr lang="en-US"/>
              <a:t>In conclusion, the Subscription Reminder Bot project successfully automates subscription tracking and notification, improving efficiency and reducing the risk of missed renewals. By leveraging UiPath Studio’s automation capabilities, the bot ensures timely reminders, thereby enhancing user convenience and saving time. The system’s modular design allows for easy scalability and adaptability to various subscription types. Through robust error handling, notification delivery is reliable, and the integration of data storage and retrieval functions ensures smooth operation. This project demonstrates the potential of RPA in personal and business environments to streamline subscription management and prevent service disruptions due to missed renewals.</a:t>
            </a:r>
            <a:endParaRPr/>
          </a:p>
          <a:p>
            <a:pPr indent="-190500" lvl="0" marL="342900" rtl="0" algn="l">
              <a:lnSpc>
                <a:spcPct val="114000"/>
              </a:lnSpc>
              <a:spcBef>
                <a:spcPts val="480"/>
              </a:spcBef>
              <a:spcAft>
                <a:spcPts val="0"/>
              </a:spcAft>
              <a:buClr>
                <a:schemeClr val="dk1"/>
              </a:buClr>
              <a:buSzPts val="2400"/>
              <a:buFont typeface="Noto Sans Symbols"/>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1"/>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Future Enhancement</a:t>
            </a:r>
            <a:endParaRPr>
              <a:latin typeface="Calibri"/>
              <a:ea typeface="Calibri"/>
              <a:cs typeface="Calibri"/>
              <a:sym typeface="Calibri"/>
            </a:endParaRPr>
          </a:p>
        </p:txBody>
      </p:sp>
      <p:sp>
        <p:nvSpPr>
          <p:cNvPr id="231" name="Google Shape;231;p31"/>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fontScale="32500"/>
          </a:bodyPr>
          <a:lstStyle/>
          <a:p>
            <a:pPr indent="0" lvl="0" marL="0" rtl="0" algn="l">
              <a:lnSpc>
                <a:spcPct val="115000"/>
              </a:lnSpc>
              <a:spcBef>
                <a:spcPts val="1200"/>
              </a:spcBef>
              <a:spcAft>
                <a:spcPts val="0"/>
              </a:spcAft>
              <a:buNone/>
            </a:pPr>
            <a:r>
              <a:rPr lang="en-US" sz="4500">
                <a:latin typeface="Arial"/>
                <a:ea typeface="Arial"/>
                <a:cs typeface="Arial"/>
                <a:sym typeface="Arial"/>
              </a:rPr>
              <a:t>Future enhancements for the Subscription Reminder Bot project could focus on improving scalability, user experience, and integration with additional platforms.</a:t>
            </a:r>
            <a:endParaRPr sz="4500">
              <a:latin typeface="Arial"/>
              <a:ea typeface="Arial"/>
              <a:cs typeface="Arial"/>
              <a:sym typeface="Arial"/>
            </a:endParaRPr>
          </a:p>
          <a:p>
            <a:pPr indent="0" lvl="0" marL="457200" rtl="0" algn="l">
              <a:lnSpc>
                <a:spcPct val="115000"/>
              </a:lnSpc>
              <a:spcBef>
                <a:spcPts val="1200"/>
              </a:spcBef>
              <a:spcAft>
                <a:spcPts val="0"/>
              </a:spcAft>
              <a:buNone/>
            </a:pPr>
            <a:r>
              <a:rPr b="1" lang="en-US" sz="4500">
                <a:latin typeface="Arial"/>
                <a:ea typeface="Arial"/>
                <a:cs typeface="Arial"/>
                <a:sym typeface="Arial"/>
              </a:rPr>
              <a:t>Multichannel Notifications</a:t>
            </a:r>
            <a:r>
              <a:rPr lang="en-US" sz="4500">
                <a:latin typeface="Arial"/>
                <a:ea typeface="Arial"/>
                <a:cs typeface="Arial"/>
                <a:sym typeface="Arial"/>
              </a:rPr>
              <a:t>: Expanding the notification module to include SMS, push notifications, or in-app alerts, alongside email, would ensure that users receive reminders through their preferred communication channels.</a:t>
            </a:r>
            <a:endParaRPr sz="4500">
              <a:latin typeface="Arial"/>
              <a:ea typeface="Arial"/>
              <a:cs typeface="Arial"/>
              <a:sym typeface="Arial"/>
            </a:endParaRPr>
          </a:p>
          <a:p>
            <a:pPr indent="0" lvl="0" marL="457200" rtl="0" algn="l">
              <a:lnSpc>
                <a:spcPct val="115000"/>
              </a:lnSpc>
              <a:spcBef>
                <a:spcPts val="1200"/>
              </a:spcBef>
              <a:spcAft>
                <a:spcPts val="0"/>
              </a:spcAft>
              <a:buNone/>
            </a:pPr>
            <a:r>
              <a:rPr b="1" lang="en-US" sz="4500">
                <a:latin typeface="Arial"/>
                <a:ea typeface="Arial"/>
                <a:cs typeface="Arial"/>
                <a:sym typeface="Arial"/>
              </a:rPr>
              <a:t>AI-based Renewal Predictions</a:t>
            </a:r>
            <a:r>
              <a:rPr lang="en-US" sz="4500">
                <a:latin typeface="Arial"/>
                <a:ea typeface="Arial"/>
                <a:cs typeface="Arial"/>
                <a:sym typeface="Arial"/>
              </a:rPr>
              <a:t>: Integrating machine learning models could help predict subscription renewal patterns based on user behavior and suggest optimal times for renewal, improving efficiency.</a:t>
            </a:r>
            <a:endParaRPr sz="4500">
              <a:latin typeface="Arial"/>
              <a:ea typeface="Arial"/>
              <a:cs typeface="Arial"/>
              <a:sym typeface="Arial"/>
            </a:endParaRPr>
          </a:p>
          <a:p>
            <a:pPr indent="0" lvl="0" marL="457200" rtl="0" algn="l">
              <a:lnSpc>
                <a:spcPct val="115000"/>
              </a:lnSpc>
              <a:spcBef>
                <a:spcPts val="1200"/>
              </a:spcBef>
              <a:spcAft>
                <a:spcPts val="0"/>
              </a:spcAft>
              <a:buNone/>
            </a:pPr>
            <a:r>
              <a:rPr b="1" lang="en-US" sz="4500">
                <a:latin typeface="Arial"/>
                <a:ea typeface="Arial"/>
                <a:cs typeface="Arial"/>
                <a:sym typeface="Arial"/>
              </a:rPr>
              <a:t>User Interface (UI) Enhancement</a:t>
            </a:r>
            <a:r>
              <a:rPr lang="en-US" sz="4500">
                <a:latin typeface="Arial"/>
                <a:ea typeface="Arial"/>
                <a:cs typeface="Arial"/>
                <a:sym typeface="Arial"/>
              </a:rPr>
              <a:t>: Creating a user-friendly interface that allows users to easily input, view, and manage their subscriptions would enhance accessibility and usability.</a:t>
            </a:r>
            <a:endParaRPr sz="4500">
              <a:latin typeface="Arial"/>
              <a:ea typeface="Arial"/>
              <a:cs typeface="Arial"/>
              <a:sym typeface="Arial"/>
            </a:endParaRPr>
          </a:p>
          <a:p>
            <a:pPr indent="0" lvl="0" marL="457200" rtl="0" algn="l">
              <a:lnSpc>
                <a:spcPct val="115000"/>
              </a:lnSpc>
              <a:spcBef>
                <a:spcPts val="1200"/>
              </a:spcBef>
              <a:spcAft>
                <a:spcPts val="0"/>
              </a:spcAft>
              <a:buNone/>
            </a:pPr>
            <a:r>
              <a:rPr b="1" lang="en-US" sz="4500">
                <a:latin typeface="Arial"/>
                <a:ea typeface="Arial"/>
                <a:cs typeface="Arial"/>
                <a:sym typeface="Arial"/>
              </a:rPr>
              <a:t>Subscription Analytics</a:t>
            </a:r>
            <a:r>
              <a:rPr lang="en-US" sz="4500">
                <a:latin typeface="Arial"/>
                <a:ea typeface="Arial"/>
                <a:cs typeface="Arial"/>
                <a:sym typeface="Arial"/>
              </a:rPr>
              <a:t>: Adding reporting features that allow users to track subscription costs, renewal trends, and upcoming renewals would provide valuable insights for better management.</a:t>
            </a:r>
            <a:endParaRPr sz="4500">
              <a:latin typeface="Arial"/>
              <a:ea typeface="Arial"/>
              <a:cs typeface="Arial"/>
              <a:sym typeface="Arial"/>
            </a:endParaRPr>
          </a:p>
          <a:p>
            <a:pPr indent="0" lvl="0" marL="457200" rtl="0" algn="l">
              <a:lnSpc>
                <a:spcPct val="115000"/>
              </a:lnSpc>
              <a:spcBef>
                <a:spcPts val="1200"/>
              </a:spcBef>
              <a:spcAft>
                <a:spcPts val="0"/>
              </a:spcAft>
              <a:buNone/>
            </a:pPr>
            <a:r>
              <a:rPr b="1" lang="en-US" sz="4500">
                <a:latin typeface="Arial"/>
                <a:ea typeface="Arial"/>
                <a:cs typeface="Arial"/>
                <a:sym typeface="Arial"/>
              </a:rPr>
              <a:t>Cloud Integration</a:t>
            </a:r>
            <a:r>
              <a:rPr lang="en-US" sz="4500">
                <a:latin typeface="Arial"/>
                <a:ea typeface="Arial"/>
                <a:cs typeface="Arial"/>
                <a:sym typeface="Arial"/>
              </a:rPr>
              <a:t>: Storing data on cloud platforms like AWS or Azure could provide better scalability, security, and accessibility across devices.</a:t>
            </a:r>
            <a:endParaRPr sz="4500">
              <a:latin typeface="Arial"/>
              <a:ea typeface="Arial"/>
              <a:cs typeface="Arial"/>
              <a:sym typeface="Arial"/>
            </a:endParaRPr>
          </a:p>
          <a:p>
            <a:pPr indent="-240030" lvl="0" marL="342900" rtl="0" algn="l">
              <a:lnSpc>
                <a:spcPct val="114000"/>
              </a:lnSpc>
              <a:spcBef>
                <a:spcPts val="1200"/>
              </a:spcBef>
              <a:spcAft>
                <a:spcPts val="0"/>
              </a:spcAft>
              <a:buSzPct val="100000"/>
              <a:buChar char="▪"/>
            </a:pPr>
            <a:r>
              <a:t/>
            </a:r>
            <a:endParaRPr/>
          </a:p>
          <a:p>
            <a:pPr indent="-190500" lvl="0" marL="342900" rtl="0" algn="l">
              <a:lnSpc>
                <a:spcPct val="114000"/>
              </a:lnSpc>
              <a:spcBef>
                <a:spcPts val="480"/>
              </a:spcBef>
              <a:spcAft>
                <a:spcPts val="0"/>
              </a:spcAft>
              <a:buClr>
                <a:schemeClr val="dk1"/>
              </a:buClr>
              <a:buSzPct val="100000"/>
              <a:buFont typeface="Noto Sans Symbols"/>
              <a:buNone/>
            </a:pPr>
            <a:r>
              <a:t/>
            </a:r>
            <a:endParaRPr/>
          </a:p>
          <a:p>
            <a:pPr indent="-190500" lvl="0" marL="342900" rtl="0" algn="l">
              <a:lnSpc>
                <a:spcPct val="114000"/>
              </a:lnSpc>
              <a:spcBef>
                <a:spcPts val="480"/>
              </a:spcBef>
              <a:spcAft>
                <a:spcPts val="0"/>
              </a:spcAft>
              <a:buClr>
                <a:schemeClr val="dk1"/>
              </a:buClr>
              <a:buSzPct val="100000"/>
              <a:buFont typeface="Noto Sans Symbols"/>
              <a:buNone/>
            </a:pPr>
            <a:r>
              <a:t/>
            </a:r>
            <a:endParaRPr/>
          </a:p>
          <a:p>
            <a:pPr indent="-190500" lvl="0" marL="342900" rtl="0" algn="l">
              <a:lnSpc>
                <a:spcPct val="114000"/>
              </a:lnSpc>
              <a:spcBef>
                <a:spcPts val="480"/>
              </a:spcBef>
              <a:spcAft>
                <a:spcPts val="0"/>
              </a:spcAft>
              <a:buClr>
                <a:schemeClr val="dk1"/>
              </a:buClr>
              <a:buSzPct val="100000"/>
              <a:buFont typeface="Noto Sans Symbols"/>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2"/>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IEEE Paper</a:t>
            </a:r>
            <a:endParaRPr>
              <a:latin typeface="Calibri"/>
              <a:ea typeface="Calibri"/>
              <a:cs typeface="Calibri"/>
              <a:sym typeface="Calibri"/>
            </a:endParaRPr>
          </a:p>
        </p:txBody>
      </p:sp>
      <p:sp>
        <p:nvSpPr>
          <p:cNvPr id="238" name="Google Shape;238;p32"/>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342900" rtl="0" algn="l">
              <a:spcBef>
                <a:spcPts val="480"/>
              </a:spcBef>
              <a:spcAft>
                <a:spcPts val="0"/>
              </a:spcAft>
              <a:buClr>
                <a:schemeClr val="dk1"/>
              </a:buClr>
              <a:buSzPts val="1100"/>
              <a:buFont typeface="Arial"/>
              <a:buNone/>
            </a:pPr>
            <a:r>
              <a:rPr b="1" lang="en-US" sz="1700">
                <a:latin typeface="Arial"/>
                <a:ea typeface="Arial"/>
                <a:cs typeface="Arial"/>
                <a:sym typeface="Arial"/>
              </a:rPr>
              <a:t>Title</a:t>
            </a:r>
            <a:r>
              <a:rPr lang="en-US" sz="1700">
                <a:latin typeface="Arial"/>
                <a:ea typeface="Arial"/>
                <a:cs typeface="Arial"/>
                <a:sym typeface="Arial"/>
              </a:rPr>
              <a:t>: "An Intelligent Personal Assistant for Task and Time Management"</a:t>
            </a:r>
            <a:endParaRPr sz="1700">
              <a:latin typeface="Arial"/>
              <a:ea typeface="Arial"/>
              <a:cs typeface="Arial"/>
              <a:sym typeface="Arial"/>
            </a:endParaRPr>
          </a:p>
          <a:p>
            <a:pPr indent="0" lvl="0" marL="342900" rtl="0" algn="l">
              <a:lnSpc>
                <a:spcPct val="114000"/>
              </a:lnSpc>
              <a:spcBef>
                <a:spcPts val="480"/>
              </a:spcBef>
              <a:spcAft>
                <a:spcPts val="0"/>
              </a:spcAft>
              <a:buNone/>
            </a:pPr>
            <a:r>
              <a:rPr b="1" lang="en-US" sz="1700">
                <a:latin typeface="Arial"/>
                <a:ea typeface="Arial"/>
                <a:cs typeface="Arial"/>
                <a:sym typeface="Arial"/>
              </a:rPr>
              <a:t>Authors</a:t>
            </a:r>
            <a:r>
              <a:rPr lang="en-US" sz="1700">
                <a:latin typeface="Arial"/>
                <a:ea typeface="Arial"/>
                <a:cs typeface="Arial"/>
                <a:sym typeface="Arial"/>
              </a:rPr>
              <a:t>: Karen Myers, Pauline Berry, Jim Blythe, Ken Conley, Melinda Gervasio, Deborah L. McGuinness, David Morley, Avi Pfeffer, Martha Pollack, Milind Tambe​</a:t>
            </a:r>
            <a:endParaRPr sz="1700">
              <a:latin typeface="Arial"/>
              <a:ea typeface="Arial"/>
              <a:cs typeface="Arial"/>
              <a:sym typeface="Arial"/>
            </a:endParaRPr>
          </a:p>
          <a:p>
            <a:pPr indent="0" lvl="0" marL="342900" rtl="0" algn="l">
              <a:lnSpc>
                <a:spcPct val="114000"/>
              </a:lnSpc>
              <a:spcBef>
                <a:spcPts val="480"/>
              </a:spcBef>
              <a:spcAft>
                <a:spcPts val="0"/>
              </a:spcAft>
              <a:buNone/>
            </a:pPr>
            <a:r>
              <a:t/>
            </a:r>
            <a:endParaRPr sz="1700">
              <a:latin typeface="Arial"/>
              <a:ea typeface="Arial"/>
              <a:cs typeface="Arial"/>
              <a:sym typeface="Arial"/>
            </a:endParaRPr>
          </a:p>
          <a:p>
            <a:pPr indent="0" lvl="0" marL="342900" rtl="0" algn="l">
              <a:spcBef>
                <a:spcPts val="480"/>
              </a:spcBef>
              <a:spcAft>
                <a:spcPts val="0"/>
              </a:spcAft>
              <a:buClr>
                <a:schemeClr val="dk1"/>
              </a:buClr>
              <a:buSzPts val="1100"/>
              <a:buFont typeface="Arial"/>
              <a:buNone/>
            </a:pPr>
            <a:r>
              <a:rPr b="1" lang="en-US" sz="1800">
                <a:latin typeface="Arial"/>
                <a:ea typeface="Arial"/>
                <a:cs typeface="Arial"/>
                <a:sym typeface="Arial"/>
              </a:rPr>
              <a:t>Title</a:t>
            </a:r>
            <a:r>
              <a:rPr lang="en-US" sz="1800">
                <a:latin typeface="Arial"/>
                <a:ea typeface="Arial"/>
                <a:cs typeface="Arial"/>
                <a:sym typeface="Arial"/>
              </a:rPr>
              <a:t>: "IntelliAid: A Personal Assistant Chatbot for Enhanced Task Management"</a:t>
            </a:r>
            <a:endParaRPr sz="1800">
              <a:latin typeface="Arial"/>
              <a:ea typeface="Arial"/>
              <a:cs typeface="Arial"/>
              <a:sym typeface="Arial"/>
            </a:endParaRPr>
          </a:p>
          <a:p>
            <a:pPr indent="0" lvl="0" marL="342900" rtl="0" algn="l">
              <a:lnSpc>
                <a:spcPct val="114000"/>
              </a:lnSpc>
              <a:spcBef>
                <a:spcPts val="480"/>
              </a:spcBef>
              <a:spcAft>
                <a:spcPts val="0"/>
              </a:spcAft>
              <a:buNone/>
            </a:pPr>
            <a:r>
              <a:rPr b="1" lang="en-US" sz="1800">
                <a:latin typeface="Arial"/>
                <a:ea typeface="Arial"/>
                <a:cs typeface="Arial"/>
                <a:sym typeface="Arial"/>
              </a:rPr>
              <a:t>Authors</a:t>
            </a:r>
            <a:r>
              <a:rPr lang="en-US" sz="1800">
                <a:latin typeface="Arial"/>
                <a:ea typeface="Arial"/>
                <a:cs typeface="Arial"/>
                <a:sym typeface="Arial"/>
              </a:rPr>
              <a:t>: Authors from various institutions </a:t>
            </a:r>
            <a:endParaRPr>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3"/>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References</a:t>
            </a:r>
            <a:endParaRPr>
              <a:latin typeface="Calibri"/>
              <a:ea typeface="Calibri"/>
              <a:cs typeface="Calibri"/>
              <a:sym typeface="Calibri"/>
            </a:endParaRPr>
          </a:p>
        </p:txBody>
      </p:sp>
      <p:sp>
        <p:nvSpPr>
          <p:cNvPr id="245" name="Google Shape;245;p33"/>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fontScale="70000" lnSpcReduction="10000"/>
          </a:bodyPr>
          <a:lstStyle/>
          <a:p>
            <a:pPr indent="-335280" lvl="0" marL="457200" rtl="0" algn="l">
              <a:spcBef>
                <a:spcPts val="0"/>
              </a:spcBef>
              <a:spcAft>
                <a:spcPts val="0"/>
              </a:spcAft>
              <a:buSzPct val="100000"/>
              <a:buAutoNum type="arabicPeriod"/>
            </a:pPr>
            <a:r>
              <a:rPr lang="en-US"/>
              <a:t>Highsmith, J. (2002). Agile Software Development Ecosystems.</a:t>
            </a:r>
            <a:endParaRPr/>
          </a:p>
          <a:p>
            <a:pPr indent="0" lvl="0" marL="342900" rtl="0" algn="l">
              <a:spcBef>
                <a:spcPts val="0"/>
              </a:spcBef>
              <a:spcAft>
                <a:spcPts val="0"/>
              </a:spcAft>
              <a:buNone/>
            </a:pPr>
            <a:r>
              <a:rPr lang="en-US"/>
              <a:t>Addison-Wesley.</a:t>
            </a:r>
            <a:endParaRPr/>
          </a:p>
          <a:p>
            <a:pPr indent="0" lvl="0" marL="342900" rtl="0" algn="l">
              <a:spcBef>
                <a:spcPts val="0"/>
              </a:spcBef>
              <a:spcAft>
                <a:spcPts val="0"/>
              </a:spcAft>
              <a:buNone/>
            </a:pPr>
            <a:r>
              <a:rPr lang="en-US"/>
              <a:t>This book discusses agile development practices, providing insight into how iterative development and flexibility were applied in your project's methodology.</a:t>
            </a:r>
            <a:endParaRPr/>
          </a:p>
          <a:p>
            <a:pPr indent="0" lvl="0" marL="342900" rtl="0" algn="l">
              <a:spcBef>
                <a:spcPts val="0"/>
              </a:spcBef>
              <a:spcAft>
                <a:spcPts val="0"/>
              </a:spcAft>
              <a:buNone/>
            </a:pPr>
            <a:r>
              <a:t/>
            </a:r>
            <a:endParaRPr/>
          </a:p>
          <a:p>
            <a:pPr indent="-335280" lvl="0" marL="457200" rtl="0" algn="l">
              <a:spcBef>
                <a:spcPts val="0"/>
              </a:spcBef>
              <a:spcAft>
                <a:spcPts val="0"/>
              </a:spcAft>
              <a:buSzPct val="100000"/>
              <a:buAutoNum type="arabicPeriod"/>
            </a:pPr>
            <a:r>
              <a:rPr lang="en-US"/>
              <a:t>Musk, S., &amp; Williams, L. (2019). Automating Subscription Management for Business Efficiency.</a:t>
            </a:r>
            <a:endParaRPr/>
          </a:p>
          <a:p>
            <a:pPr indent="0" lvl="0" marL="457200" rtl="0" algn="l">
              <a:spcBef>
                <a:spcPts val="0"/>
              </a:spcBef>
              <a:spcAft>
                <a:spcPts val="0"/>
              </a:spcAft>
              <a:buNone/>
            </a:pPr>
            <a:r>
              <a:rPr lang="en-US"/>
              <a:t>Journal of Business Automation, 22(3), 145-158.</a:t>
            </a:r>
            <a:endParaRPr/>
          </a:p>
          <a:p>
            <a:pPr indent="0" lvl="0" marL="457200" rtl="0" algn="l">
              <a:spcBef>
                <a:spcPts val="0"/>
              </a:spcBef>
              <a:spcAft>
                <a:spcPts val="0"/>
              </a:spcAft>
              <a:buNone/>
            </a:pPr>
            <a:r>
              <a:rPr lang="en-US"/>
              <a:t>This paper discusses the automation of subscription-based tasks and how RPA can streamline these processes in business operations.</a:t>
            </a:r>
            <a:endParaRPr/>
          </a:p>
          <a:p>
            <a:pPr indent="0" lvl="0" marL="457200" rtl="0" algn="l">
              <a:spcBef>
                <a:spcPts val="0"/>
              </a:spcBef>
              <a:spcAft>
                <a:spcPts val="0"/>
              </a:spcAft>
              <a:buNone/>
            </a:pPr>
            <a:r>
              <a:t/>
            </a:r>
            <a:endParaRPr/>
          </a:p>
          <a:p>
            <a:pPr indent="-335280" lvl="0" marL="457200" rtl="0" algn="l">
              <a:spcBef>
                <a:spcPts val="0"/>
              </a:spcBef>
              <a:spcAft>
                <a:spcPts val="0"/>
              </a:spcAft>
              <a:buSzPct val="100000"/>
              <a:buAutoNum type="arabicPeriod"/>
            </a:pPr>
            <a:r>
              <a:rPr lang="en-US"/>
              <a:t>Chaudhary, A., &amp; Kumar, R. (2020). Robotic Process Automation in Data Extraction and Reporting: Case Studies and Best Practices.</a:t>
            </a:r>
            <a:endParaRPr/>
          </a:p>
          <a:p>
            <a:pPr indent="457200" lvl="0" marL="0" rtl="0" algn="l">
              <a:spcBef>
                <a:spcPts val="0"/>
              </a:spcBef>
              <a:spcAft>
                <a:spcPts val="0"/>
              </a:spcAft>
              <a:buClr>
                <a:schemeClr val="dk1"/>
              </a:buClr>
              <a:buSzPct val="45833"/>
              <a:buFont typeface="Arial"/>
              <a:buNone/>
            </a:pPr>
            <a:r>
              <a:rPr lang="en-US"/>
              <a:t>International Journal of Advanced Computer Science, 34(1), 12-24.</a:t>
            </a:r>
            <a:endParaRPr/>
          </a:p>
          <a:p>
            <a:pPr indent="0" lvl="0" marL="457200" rtl="0" algn="l">
              <a:spcBef>
                <a:spcPts val="0"/>
              </a:spcBef>
              <a:spcAft>
                <a:spcPts val="0"/>
              </a:spcAft>
              <a:buClr>
                <a:schemeClr val="dk1"/>
              </a:buClr>
              <a:buSzPct val="45833"/>
              <a:buFont typeface="Arial"/>
              <a:buNone/>
            </a:pPr>
            <a:r>
              <a:rPr lang="en-US"/>
              <a:t>This article discusses best practices and case studies of RPA applied to data extraction, analysis, and reporting—similar to the functions used in your project for reminder generation and email notifications.</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0" lvl="0" marL="342900" rtl="0" algn="l">
              <a:lnSpc>
                <a:spcPct val="114000"/>
              </a:lnSpc>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4"/>
          <p:cNvSpPr/>
          <p:nvPr/>
        </p:nvSpPr>
        <p:spPr>
          <a:xfrm>
            <a:off x="2532822" y="2321005"/>
            <a:ext cx="4078361" cy="15696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9600">
                <a:solidFill>
                  <a:schemeClr val="dk1"/>
                </a:solidFill>
                <a:latin typeface="Calibri"/>
                <a:ea typeface="Calibri"/>
                <a:cs typeface="Calibri"/>
                <a:sym typeface="Calibri"/>
              </a:rPr>
              <a:t>Queries</a:t>
            </a:r>
            <a:endParaRPr sz="96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5"/>
          <p:cNvSpPr/>
          <p:nvPr/>
        </p:nvSpPr>
        <p:spPr>
          <a:xfrm>
            <a:off x="727460" y="2321005"/>
            <a:ext cx="7689093" cy="15696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9600">
                <a:solidFill>
                  <a:schemeClr val="dk1"/>
                </a:solidFill>
                <a:latin typeface="Calibri"/>
                <a:ea typeface="Calibri"/>
                <a:cs typeface="Calibri"/>
                <a:sym typeface="Calibri"/>
              </a:rPr>
              <a:t>Demonstration</a:t>
            </a:r>
            <a:endParaRPr sz="96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p:nvPr/>
        </p:nvSpPr>
        <p:spPr>
          <a:xfrm>
            <a:off x="1844234" y="2321005"/>
            <a:ext cx="5455532" cy="15696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9600">
                <a:solidFill>
                  <a:schemeClr val="dk1"/>
                </a:solidFill>
                <a:latin typeface="Calibri"/>
                <a:ea typeface="Calibri"/>
                <a:cs typeface="Calibri"/>
                <a:sym typeface="Calibri"/>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